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57" r:id="rId3"/>
    <p:sldId id="262" r:id="rId4"/>
    <p:sldId id="263" r:id="rId5"/>
    <p:sldId id="258" r:id="rId6"/>
    <p:sldId id="260" r:id="rId7"/>
    <p:sldId id="261" r:id="rId8"/>
    <p:sldId id="267" r:id="rId9"/>
    <p:sldId id="284" r:id="rId10"/>
    <p:sldId id="264" r:id="rId11"/>
    <p:sldId id="265" r:id="rId12"/>
    <p:sldId id="266" r:id="rId13"/>
    <p:sldId id="273" r:id="rId14"/>
    <p:sldId id="276" r:id="rId15"/>
    <p:sldId id="270" r:id="rId16"/>
    <p:sldId id="274" r:id="rId17"/>
    <p:sldId id="268" r:id="rId18"/>
    <p:sldId id="271" r:id="rId19"/>
    <p:sldId id="272" r:id="rId20"/>
    <p:sldId id="285" r:id="rId21"/>
    <p:sldId id="282" r:id="rId22"/>
    <p:sldId id="281" r:id="rId23"/>
    <p:sldId id="286" r:id="rId24"/>
    <p:sldId id="278" r:id="rId25"/>
    <p:sldId id="277" r:id="rId26"/>
    <p:sldId id="279" r:id="rId27"/>
    <p:sldId id="280" r:id="rId28"/>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9" autoAdjust="0"/>
  </p:normalViewPr>
  <p:slideViewPr>
    <p:cSldViewPr snapToGrid="0">
      <p:cViewPr varScale="1">
        <p:scale>
          <a:sx n="152" d="100"/>
          <a:sy n="152" d="100"/>
        </p:scale>
        <p:origin x="1668" y="10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A2B4351A-36B6-4E22-943F-9D73774300AB}" type="datetimeFigureOut">
              <a:rPr kumimoji="1" lang="ja-JP" altLang="en-US" smtClean="0"/>
              <a:t>2026/9/8</a:t>
            </a:fld>
            <a:endParaRPr kumimoji="1" lang="ja-JP" alt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5F9CB027-ADA8-4DB0-8796-838719ED68E5}" type="slidenum">
              <a:rPr kumimoji="1" lang="ja-JP" altLang="en-US" smtClean="0"/>
              <a:t>‹#›</a:t>
            </a:fld>
            <a:endParaRPr kumimoji="1" lang="ja-JP" altLang="en-US"/>
          </a:p>
        </p:txBody>
      </p:sp>
    </p:spTree>
    <p:extLst>
      <p:ext uri="{BB962C8B-B14F-4D97-AF65-F5344CB8AC3E}">
        <p14:creationId xmlns:p14="http://schemas.microsoft.com/office/powerpoint/2010/main" val="3378881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54379" y="183041"/>
            <a:ext cx="9571511" cy="244473"/>
          </a:xfrm>
        </p:spPr>
        <p:txBody>
          <a:bodyPr>
            <a:noAutofit/>
          </a:bodyPr>
          <a:lstStyle>
            <a:lvl1pPr>
              <a:defRPr sz="1800">
                <a:latin typeface="メイリオ" panose="020B0604030504040204" pitchFamily="50" charset="-128"/>
                <a:ea typeface="メイリオ" panose="020B0604030504040204" pitchFamily="50" charset="-128"/>
              </a:defRPr>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154380" y="573974"/>
            <a:ext cx="9571510" cy="6151417"/>
          </a:xfrm>
        </p:spPr>
        <p:txBody>
          <a:bodyPr>
            <a:normAutofit/>
          </a:bodyPr>
          <a:lstStyle>
            <a:lvl1pPr>
              <a:defRPr sz="1800">
                <a:latin typeface="メイリオ" panose="020B0604030504040204" pitchFamily="50" charset="-128"/>
                <a:ea typeface="メイリオ" panose="020B0604030504040204" pitchFamily="50" charset="-128"/>
              </a:defRPr>
            </a:lvl1pPr>
            <a:lvl2pPr>
              <a:defRPr sz="1600">
                <a:latin typeface="メイリオ" panose="020B0604030504040204" pitchFamily="50" charset="-128"/>
                <a:ea typeface="メイリオ" panose="020B0604030504040204" pitchFamily="50" charset="-128"/>
              </a:defRPr>
            </a:lvl2pPr>
            <a:lvl3pPr>
              <a:defRPr sz="1400">
                <a:latin typeface="メイリオ" panose="020B0604030504040204" pitchFamily="50" charset="-128"/>
                <a:ea typeface="メイリオ" panose="020B0604030504040204" pitchFamily="50" charset="-128"/>
              </a:defRPr>
            </a:lvl3pPr>
            <a:lvl4pPr>
              <a:defRPr sz="1200">
                <a:latin typeface="メイリオ" panose="020B0604030504040204" pitchFamily="50" charset="-128"/>
                <a:ea typeface="メイリオ" panose="020B0604030504040204" pitchFamily="50" charset="-128"/>
              </a:defRPr>
            </a:lvl4pPr>
            <a:lvl5pPr>
              <a:defRPr sz="1200">
                <a:latin typeface="メイリオ" panose="020B0604030504040204" pitchFamily="50" charset="-128"/>
                <a:ea typeface="メイリオ" panose="020B0604030504040204"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Tree>
    <p:extLst>
      <p:ext uri="{BB962C8B-B14F-4D97-AF65-F5344CB8AC3E}">
        <p14:creationId xmlns:p14="http://schemas.microsoft.com/office/powerpoint/2010/main" val="30899516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8130" y="80119"/>
            <a:ext cx="9543802" cy="315910"/>
          </a:xfrm>
          <a:prstGeom prst="rect">
            <a:avLst/>
          </a:prstGeom>
        </p:spPr>
        <p:txBody>
          <a:bodyPr vert="horz" lIns="91440" tIns="45720" rIns="91440" bIns="45720" rtlCol="0" anchor="ctr">
            <a:no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178130" y="506680"/>
            <a:ext cx="9543802" cy="6194961"/>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2020987695"/>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kumimoji="1" sz="1800" b="1" kern="1200">
          <a:solidFill>
            <a:schemeClr val="tx1"/>
          </a:solidFill>
          <a:latin typeface="メイリオ" panose="020B0604030504040204" pitchFamily="50" charset="-128"/>
          <a:ea typeface="メイリオ"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60013hke2ct.cybozu.com/k/guest/11/156/"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791F5B-E3D7-8220-920E-F6F3F4BCB782}"/>
              </a:ext>
            </a:extLst>
          </p:cNvPr>
          <p:cNvSpPr>
            <a:spLocks noGrp="1"/>
          </p:cNvSpPr>
          <p:nvPr>
            <p:ph type="title"/>
          </p:nvPr>
        </p:nvSpPr>
        <p:spPr/>
        <p:txBody>
          <a:bodyPr/>
          <a:lstStyle/>
          <a:p>
            <a:r>
              <a:rPr lang="ja-JP" altLang="en-US" dirty="0"/>
              <a:t>第</a:t>
            </a:r>
            <a:r>
              <a:rPr lang="en-US" altLang="ja-JP" dirty="0"/>
              <a:t>1</a:t>
            </a:r>
            <a:r>
              <a:rPr lang="ja-JP" altLang="en-US" dirty="0"/>
              <a:t>章：はじめに</a:t>
            </a:r>
            <a:endParaRPr kumimoji="1" lang="ja-JP" altLang="en-US" dirty="0"/>
          </a:p>
        </p:txBody>
      </p:sp>
      <p:sp>
        <p:nvSpPr>
          <p:cNvPr id="3" name="コンテンツ プレースホルダー 2">
            <a:extLst>
              <a:ext uri="{FF2B5EF4-FFF2-40B4-BE49-F238E27FC236}">
                <a16:creationId xmlns:a16="http://schemas.microsoft.com/office/drawing/2014/main" id="{7B83023F-D45B-E2A6-1E4A-2AC848361492}"/>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837498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492F43-69FB-5C08-BB9F-BF65AAAE12EB}"/>
              </a:ext>
            </a:extLst>
          </p:cNvPr>
          <p:cNvSpPr>
            <a:spLocks noGrp="1"/>
          </p:cNvSpPr>
          <p:nvPr>
            <p:ph type="title"/>
          </p:nvPr>
        </p:nvSpPr>
        <p:spPr/>
        <p:txBody>
          <a:bodyPr>
            <a:normAutofit fontScale="90000"/>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080345AA-148D-915D-0C7C-C1866D2138F0}"/>
              </a:ext>
            </a:extLst>
          </p:cNvPr>
          <p:cNvSpPr>
            <a:spLocks noGrp="1"/>
          </p:cNvSpPr>
          <p:nvPr>
            <p:ph idx="1"/>
          </p:nvPr>
        </p:nvSpPr>
        <p:spPr/>
        <p:txBody>
          <a:bodyPr/>
          <a:lstStyle/>
          <a:p>
            <a:endParaRPr lang="en-US" altLang="ja-JP" dirty="0"/>
          </a:p>
        </p:txBody>
      </p:sp>
    </p:spTree>
    <p:extLst>
      <p:ext uri="{BB962C8B-B14F-4D97-AF65-F5344CB8AC3E}">
        <p14:creationId xmlns:p14="http://schemas.microsoft.com/office/powerpoint/2010/main" val="1213922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2839F0-5B37-47A3-5903-6D1C8D41D4EA}"/>
              </a:ext>
            </a:extLst>
          </p:cNvPr>
          <p:cNvSpPr>
            <a:spLocks noGrp="1"/>
          </p:cNvSpPr>
          <p:nvPr>
            <p:ph type="title"/>
          </p:nvPr>
        </p:nvSpPr>
        <p:spPr/>
        <p:txBody>
          <a:bodyPr/>
          <a:lstStyle/>
          <a:p>
            <a:r>
              <a:rPr kumimoji="1" lang="ja-JP" altLang="en-US" dirty="0"/>
              <a:t>できること</a:t>
            </a:r>
          </a:p>
        </p:txBody>
      </p:sp>
      <p:sp>
        <p:nvSpPr>
          <p:cNvPr id="3" name="コンテンツ プレースホルダー 2">
            <a:extLst>
              <a:ext uri="{FF2B5EF4-FFF2-40B4-BE49-F238E27FC236}">
                <a16:creationId xmlns:a16="http://schemas.microsoft.com/office/drawing/2014/main" id="{BBC3F2BD-11EF-424C-EEC5-1708C48EA7DD}"/>
              </a:ext>
            </a:extLst>
          </p:cNvPr>
          <p:cNvSpPr>
            <a:spLocks noGrp="1"/>
          </p:cNvSpPr>
          <p:nvPr>
            <p:ph idx="1"/>
          </p:nvPr>
        </p:nvSpPr>
        <p:spPr/>
        <p:txBody>
          <a:bodyPr>
            <a:normAutofit lnSpcReduction="10000"/>
          </a:bodyPr>
          <a:lstStyle/>
          <a:p>
            <a:pPr>
              <a:buFont typeface="Wingdings" panose="05000000000000000000" pitchFamily="2" charset="2"/>
              <a:buChar char="n"/>
            </a:pPr>
            <a:r>
              <a:rPr lang="en-US" altLang="ja-JP" dirty="0"/>
              <a:t>CRM</a:t>
            </a:r>
            <a:r>
              <a:rPr lang="ja-JP" altLang="en-US" dirty="0"/>
              <a:t>（</a:t>
            </a:r>
            <a:r>
              <a:rPr lang="en-US" altLang="ja-JP" dirty="0"/>
              <a:t>Customer Relational Management</a:t>
            </a:r>
            <a:r>
              <a:rPr lang="ja-JP" altLang="en-US" dirty="0"/>
              <a:t>）機能を搭載しており、必要な場面で</a:t>
            </a:r>
            <a:r>
              <a:rPr lang="en-US" altLang="ja-JP" dirty="0"/>
              <a:t>Web</a:t>
            </a:r>
            <a:r>
              <a:rPr lang="ja-JP" altLang="en-US" dirty="0"/>
              <a:t>フォームから予約された患者ごとの特徴（性格など）を残せるため、これを活用することで次回の対応時にこの情報を参考にしながら適切な対応方法を検討することができます。</a:t>
            </a:r>
            <a:endParaRPr lang="en-US" altLang="ja-JP" dirty="0"/>
          </a:p>
          <a:p>
            <a:pPr>
              <a:buFont typeface="Wingdings" panose="05000000000000000000" pitchFamily="2" charset="2"/>
              <a:buChar char="n"/>
            </a:pPr>
            <a:r>
              <a:rPr lang="en-US" altLang="ja-JP" dirty="0"/>
              <a:t>Web</a:t>
            </a:r>
            <a:r>
              <a:rPr lang="ja-JP" altLang="en-US" dirty="0"/>
              <a:t>フォームから予約を行った患者については、次回からの</a:t>
            </a:r>
            <a:r>
              <a:rPr lang="en-US" altLang="ja-JP" dirty="0"/>
              <a:t>Web</a:t>
            </a:r>
            <a:r>
              <a:rPr lang="ja-JP" altLang="en-US" dirty="0"/>
              <a:t>フォームの必要事項の入力（住所や氏名など）を自動的に補完して患者の手間を減らします。</a:t>
            </a:r>
            <a:endParaRPr lang="en-US" altLang="ja-JP" dirty="0"/>
          </a:p>
          <a:p>
            <a:pPr>
              <a:buFont typeface="Wingdings" panose="05000000000000000000" pitchFamily="2" charset="2"/>
              <a:buChar char="n"/>
            </a:pPr>
            <a:r>
              <a:rPr lang="en-US" altLang="ja-JP" dirty="0"/>
              <a:t>Web</a:t>
            </a:r>
            <a:r>
              <a:rPr lang="ja-JP" altLang="en-US" dirty="0"/>
              <a:t>フォーム上で表示されるメッセージを、各</a:t>
            </a:r>
            <a:r>
              <a:rPr kumimoji="1" lang="ja-JP" altLang="en-US" dirty="0"/>
              <a:t>診療科ごと、用件（初診</a:t>
            </a:r>
            <a:r>
              <a:rPr kumimoji="1" lang="en-US" altLang="ja-JP" dirty="0"/>
              <a:t>/</a:t>
            </a:r>
            <a:r>
              <a:rPr kumimoji="1" lang="ja-JP" altLang="en-US" dirty="0"/>
              <a:t>変更</a:t>
            </a:r>
            <a:r>
              <a:rPr kumimoji="1" lang="en-US" altLang="ja-JP" dirty="0"/>
              <a:t>/</a:t>
            </a:r>
            <a:r>
              <a:rPr lang="ja-JP" altLang="en-US" dirty="0"/>
              <a:t>取下）ごと</a:t>
            </a:r>
            <a:r>
              <a:rPr kumimoji="1" lang="ja-JP" altLang="en-US" dirty="0"/>
              <a:t>、医師ごとにカスタマイズできます。</a:t>
            </a:r>
            <a:endParaRPr kumimoji="1" lang="en-US" altLang="ja-JP" dirty="0"/>
          </a:p>
          <a:p>
            <a:pPr>
              <a:buFont typeface="Wingdings" panose="05000000000000000000" pitchFamily="2" charset="2"/>
              <a:buChar char="n"/>
            </a:pPr>
            <a:r>
              <a:rPr lang="ja-JP" altLang="en-US" dirty="0"/>
              <a:t>患者がアクセス（参照）する</a:t>
            </a:r>
            <a:r>
              <a:rPr lang="en-US" altLang="ja-JP" dirty="0"/>
              <a:t>Web</a:t>
            </a:r>
            <a:r>
              <a:rPr lang="ja-JP" altLang="en-US" dirty="0"/>
              <a:t>フォーム画面をカスタマイズした場合に、公開する前にプレビューすることができます。</a:t>
            </a:r>
            <a:endParaRPr lang="en-US" altLang="ja-JP" dirty="0"/>
          </a:p>
          <a:p>
            <a:pPr>
              <a:buFont typeface="Wingdings" panose="05000000000000000000" pitchFamily="2" charset="2"/>
              <a:buChar char="n"/>
            </a:pPr>
            <a:r>
              <a:rPr lang="ja-JP" altLang="en-US" dirty="0"/>
              <a:t>患者を担当しているスタッフが一時的に不在となった場合に別のスタッフがすばやく交代（継承）することができます。</a:t>
            </a:r>
            <a:endParaRPr lang="en-US" altLang="ja-JP" dirty="0"/>
          </a:p>
          <a:p>
            <a:pPr>
              <a:buFont typeface="Wingdings" panose="05000000000000000000" pitchFamily="2" charset="2"/>
              <a:buChar char="n"/>
            </a:pPr>
            <a:r>
              <a:rPr lang="ja-JP" altLang="en-US" dirty="0"/>
              <a:t>依頼者への対応に関する経過状況を常に記録しており後からトレースすることができます。</a:t>
            </a:r>
            <a:endParaRPr lang="en-US" altLang="ja-JP" dirty="0"/>
          </a:p>
          <a:p>
            <a:pPr>
              <a:buFont typeface="Wingdings" panose="05000000000000000000" pitchFamily="2" charset="2"/>
              <a:buChar char="n"/>
            </a:pPr>
            <a:r>
              <a:rPr lang="ja-JP" altLang="en-US" dirty="0"/>
              <a:t>本システムを使用するスタッフを複数</a:t>
            </a:r>
            <a:r>
              <a:rPr kumimoji="1" lang="ja-JP" altLang="en-US" dirty="0"/>
              <a:t>設定</a:t>
            </a:r>
            <a:r>
              <a:rPr lang="ja-JP" altLang="en-US" dirty="0"/>
              <a:t>した場合に、同一患者に対するスタッフ間の</a:t>
            </a:r>
            <a:r>
              <a:rPr kumimoji="1" lang="ja-JP" altLang="en-US" dirty="0"/>
              <a:t>誤操作防止機能が搭載されています。</a:t>
            </a:r>
            <a:endParaRPr kumimoji="1" lang="en-US" altLang="ja-JP" dirty="0"/>
          </a:p>
          <a:p>
            <a:pPr>
              <a:buFont typeface="Wingdings" panose="05000000000000000000" pitchFamily="2" charset="2"/>
              <a:buChar char="n"/>
            </a:pPr>
            <a:r>
              <a:rPr kumimoji="1" lang="ja-JP" altLang="en-US" dirty="0"/>
              <a:t>一般メールソフトを併用する必要はありません。本システム内に外来予約管理に特化した専用のメール機能を搭載しており、メール</a:t>
            </a:r>
            <a:r>
              <a:rPr lang="ja-JP" altLang="en-US" dirty="0"/>
              <a:t>送信</a:t>
            </a:r>
            <a:r>
              <a:rPr kumimoji="1" lang="ja-JP" altLang="en-US" dirty="0"/>
              <a:t>時には現在の対応フェーズに応じて定型文から自動的にメッセージを組み立てて</a:t>
            </a:r>
            <a:r>
              <a:rPr lang="ja-JP" altLang="en-US" dirty="0"/>
              <a:t>ワンクリック</a:t>
            </a:r>
            <a:r>
              <a:rPr kumimoji="1" lang="ja-JP" altLang="en-US" dirty="0"/>
              <a:t>で送信できます（送信前に定型文を修正することもでき</a:t>
            </a:r>
            <a:r>
              <a:rPr lang="ja-JP" altLang="en-US" dirty="0"/>
              <a:t>ま</a:t>
            </a:r>
            <a:r>
              <a:rPr kumimoji="1" lang="ja-JP" altLang="en-US" dirty="0"/>
              <a:t>す）</a:t>
            </a:r>
            <a:endParaRPr kumimoji="1" lang="en-US" altLang="ja-JP" dirty="0"/>
          </a:p>
          <a:p>
            <a:pPr>
              <a:buFont typeface="Wingdings" panose="05000000000000000000" pitchFamily="2" charset="2"/>
              <a:buChar char="n"/>
            </a:pPr>
            <a:r>
              <a:rPr kumimoji="1" lang="ja-JP" altLang="en-US" dirty="0"/>
              <a:t>患者へ送信したメールの既読状況を感知</a:t>
            </a:r>
            <a:r>
              <a:rPr lang="ja-JP" altLang="en-US" dirty="0"/>
              <a:t>します。メール送信前にスタッフが設定する閲覧</a:t>
            </a:r>
            <a:r>
              <a:rPr kumimoji="1" lang="ja-JP" altLang="en-US" dirty="0"/>
              <a:t>期限が切れた場合</a:t>
            </a:r>
            <a:r>
              <a:rPr lang="ja-JP" altLang="en-US" dirty="0"/>
              <a:t>には直ちに</a:t>
            </a:r>
            <a:r>
              <a:rPr kumimoji="1" lang="ja-JP" altLang="en-US" dirty="0"/>
              <a:t>スタッフの画面に反映され、</a:t>
            </a:r>
            <a:r>
              <a:rPr lang="ja-JP" altLang="en-US" dirty="0"/>
              <a:t>別の</a:t>
            </a:r>
            <a:r>
              <a:rPr kumimoji="1" lang="ja-JP" altLang="en-US" dirty="0"/>
              <a:t>対応方法（電話による架電対応等）に切り替えた運用がきます。</a:t>
            </a:r>
            <a:endParaRPr kumimoji="1" lang="en-US" altLang="ja-JP" dirty="0"/>
          </a:p>
          <a:p>
            <a:endParaRPr kumimoji="1" lang="en-US" altLang="ja-JP" dirty="0"/>
          </a:p>
        </p:txBody>
      </p:sp>
    </p:spTree>
    <p:extLst>
      <p:ext uri="{BB962C8B-B14F-4D97-AF65-F5344CB8AC3E}">
        <p14:creationId xmlns:p14="http://schemas.microsoft.com/office/powerpoint/2010/main" val="2738719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9EC69E-D873-1213-78BC-D94A776BFDD6}"/>
              </a:ext>
            </a:extLst>
          </p:cNvPr>
          <p:cNvSpPr>
            <a:spLocks noGrp="1"/>
          </p:cNvSpPr>
          <p:nvPr>
            <p:ph type="title"/>
          </p:nvPr>
        </p:nvSpPr>
        <p:spPr/>
        <p:txBody>
          <a:bodyPr/>
          <a:lstStyle/>
          <a:p>
            <a:r>
              <a:rPr kumimoji="1" lang="ja-JP" altLang="en-US" dirty="0"/>
              <a:t>できないこと（ご注意）</a:t>
            </a:r>
          </a:p>
        </p:txBody>
      </p:sp>
      <p:sp>
        <p:nvSpPr>
          <p:cNvPr id="3" name="コンテンツ プレースホルダー 2">
            <a:extLst>
              <a:ext uri="{FF2B5EF4-FFF2-40B4-BE49-F238E27FC236}">
                <a16:creationId xmlns:a16="http://schemas.microsoft.com/office/drawing/2014/main" id="{0B6E656A-B437-8626-E941-67181FB92B53}"/>
              </a:ext>
            </a:extLst>
          </p:cNvPr>
          <p:cNvSpPr>
            <a:spLocks noGrp="1"/>
          </p:cNvSpPr>
          <p:nvPr>
            <p:ph idx="1"/>
          </p:nvPr>
        </p:nvSpPr>
        <p:spPr/>
        <p:txBody>
          <a:bodyPr/>
          <a:lstStyle/>
          <a:p>
            <a:pPr>
              <a:buFont typeface="Wingdings" panose="05000000000000000000" pitchFamily="2" charset="2"/>
              <a:buChar char="n"/>
            </a:pPr>
            <a:r>
              <a:rPr kumimoji="1" lang="ja-JP" altLang="en-US" dirty="0"/>
              <a:t>本システムは直接的に連動して電子カルテ側の予約システムをリアルタイムに取り込んだり、更新などはできません（</a:t>
            </a:r>
            <a:r>
              <a:rPr lang="ja-JP" altLang="en-US" dirty="0"/>
              <a:t>本システムは、従来の電子カルテ側の予約システムでの運用（存在）を前提に、新たに</a:t>
            </a:r>
            <a:r>
              <a:rPr lang="en-US" altLang="ja-JP" dirty="0"/>
              <a:t>Web</a:t>
            </a:r>
            <a:r>
              <a:rPr lang="ja-JP" altLang="en-US" dirty="0"/>
              <a:t>フォームからの依頼、およびスタッフによるその管理に必要な対応操作を支援するシステムです）。</a:t>
            </a:r>
            <a:endParaRPr kumimoji="1" lang="en-US" altLang="ja-JP" dirty="0"/>
          </a:p>
          <a:p>
            <a:pPr>
              <a:buFont typeface="Wingdings" panose="05000000000000000000" pitchFamily="2" charset="2"/>
              <a:buChar char="n"/>
            </a:pPr>
            <a:r>
              <a:rPr lang="ja-JP" altLang="en-US" dirty="0"/>
              <a:t>本システムには</a:t>
            </a:r>
            <a:r>
              <a:rPr lang="ja-JP" altLang="ja-JP" dirty="0"/>
              <a:t>医師ごとの診療予定情報を活用することで、スタッフから患者への架電回数</a:t>
            </a:r>
            <a:r>
              <a:rPr lang="ja-JP" altLang="en-US" dirty="0"/>
              <a:t>の</a:t>
            </a:r>
            <a:r>
              <a:rPr lang="ja-JP" altLang="ja-JP" dirty="0"/>
              <a:t>削減</a:t>
            </a:r>
            <a:r>
              <a:rPr lang="ja-JP" altLang="en-US" dirty="0"/>
              <a:t>を想定した</a:t>
            </a:r>
            <a:r>
              <a:rPr lang="ja-JP" altLang="ja-JP" dirty="0"/>
              <a:t>機能が</a:t>
            </a:r>
            <a:r>
              <a:rPr lang="ja-JP" altLang="en-US" dirty="0"/>
              <a:t>搭載されています</a:t>
            </a:r>
            <a:r>
              <a:rPr lang="ja-JP" altLang="ja-JP" dirty="0"/>
              <a:t>。一方で、</a:t>
            </a:r>
            <a:r>
              <a:rPr lang="ja-JP" altLang="en-US" dirty="0"/>
              <a:t>この医師毎の診療予定情報は、現時点では</a:t>
            </a:r>
            <a:r>
              <a:rPr lang="ja-JP" altLang="ja-JP" dirty="0"/>
              <a:t>医局秘書等から共有される紙情報をもとに、予約センタースタッフが手動でデータ保守を行う手間（トレードオフ）が生じます。そのため、本機能の運用採否は各診療科</a:t>
            </a:r>
            <a:r>
              <a:rPr lang="ja-JP" altLang="en-US" dirty="0"/>
              <a:t>ごとに選択（任意）</a:t>
            </a:r>
            <a:r>
              <a:rPr lang="ja-JP" altLang="ja-JP" dirty="0"/>
              <a:t>としています。</a:t>
            </a:r>
            <a:endParaRPr lang="en-US" altLang="ja-JP" dirty="0"/>
          </a:p>
          <a:p>
            <a:pPr>
              <a:buFont typeface="Wingdings" panose="05000000000000000000" pitchFamily="2" charset="2"/>
              <a:buChar char="n"/>
            </a:pPr>
            <a:r>
              <a:rPr kumimoji="1" lang="ja-JP" altLang="en-US" dirty="0"/>
              <a:t>患者が</a:t>
            </a:r>
            <a:r>
              <a:rPr kumimoji="1" lang="en-US" altLang="ja-JP" dirty="0"/>
              <a:t>Web</a:t>
            </a:r>
            <a:r>
              <a:rPr kumimoji="1" lang="ja-JP" altLang="en-US" dirty="0"/>
              <a:t>フォームを使用せずに従来の電話での依頼に関しては、当該システムでは</a:t>
            </a:r>
            <a:r>
              <a:rPr lang="ja-JP" altLang="en-US" dirty="0"/>
              <a:t>検知が</a:t>
            </a:r>
            <a:r>
              <a:rPr kumimoji="1" lang="ja-JP" altLang="en-US" dirty="0"/>
              <a:t>できないため対象外となります。</a:t>
            </a:r>
            <a:endParaRPr lang="en-US" altLang="ja-JP" dirty="0"/>
          </a:p>
          <a:p>
            <a:pPr marL="0" indent="0">
              <a:buNone/>
            </a:pPr>
            <a:endParaRPr kumimoji="1" lang="en-US" altLang="ja-JP" dirty="0"/>
          </a:p>
          <a:p>
            <a:endParaRPr kumimoji="1" lang="en-US" altLang="ja-JP" dirty="0"/>
          </a:p>
          <a:p>
            <a:endParaRPr kumimoji="1" lang="ja-JP" altLang="en-US" dirty="0"/>
          </a:p>
        </p:txBody>
      </p:sp>
    </p:spTree>
    <p:extLst>
      <p:ext uri="{BB962C8B-B14F-4D97-AF65-F5344CB8AC3E}">
        <p14:creationId xmlns:p14="http://schemas.microsoft.com/office/powerpoint/2010/main" val="691674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907832-B032-424A-A04D-C418C773EC71}"/>
              </a:ext>
            </a:extLst>
          </p:cNvPr>
          <p:cNvSpPr>
            <a:spLocks noGrp="1"/>
          </p:cNvSpPr>
          <p:nvPr>
            <p:ph type="title"/>
          </p:nvPr>
        </p:nvSpPr>
        <p:spPr/>
        <p:txBody>
          <a:bodyPr/>
          <a:lstStyle/>
          <a:p>
            <a:r>
              <a:rPr lang="ja-JP" altLang="en-US" dirty="0"/>
              <a:t>システムへのログインと</a:t>
            </a:r>
            <a:r>
              <a:rPr lang="en-US" altLang="ja-JP" dirty="0"/>
              <a:t>Dashboard</a:t>
            </a:r>
            <a:endParaRPr kumimoji="1" lang="ja-JP" altLang="en-US" dirty="0"/>
          </a:p>
        </p:txBody>
      </p:sp>
      <p:sp>
        <p:nvSpPr>
          <p:cNvPr id="7" name="テキスト ボックス 6">
            <a:hlinkClick r:id="rId2"/>
            <a:extLst>
              <a:ext uri="{FF2B5EF4-FFF2-40B4-BE49-F238E27FC236}">
                <a16:creationId xmlns:a16="http://schemas.microsoft.com/office/drawing/2014/main" id="{A3C30D76-9DD1-8CEB-F4CF-CE60AE745D6D}"/>
              </a:ext>
            </a:extLst>
          </p:cNvPr>
          <p:cNvSpPr txBox="1"/>
          <p:nvPr/>
        </p:nvSpPr>
        <p:spPr>
          <a:xfrm>
            <a:off x="154379" y="652136"/>
            <a:ext cx="6254810" cy="369332"/>
          </a:xfrm>
          <a:prstGeom prst="rect">
            <a:avLst/>
          </a:prstGeom>
          <a:noFill/>
        </p:spPr>
        <p:txBody>
          <a:bodyPr wrap="square">
            <a:spAutoFit/>
          </a:bodyPr>
          <a:lstStyle/>
          <a:p>
            <a:r>
              <a:rPr lang="ja-JP" altLang="en-US" dirty="0">
                <a:hlinkClick r:id="rId2"/>
              </a:rPr>
              <a:t>https://w60013hke2ct.cybozu.com/k/guest/11/156/</a:t>
            </a:r>
            <a:endParaRPr lang="ja-JP" altLang="en-US" dirty="0"/>
          </a:p>
        </p:txBody>
      </p:sp>
      <p:sp>
        <p:nvSpPr>
          <p:cNvPr id="8" name="テキスト ボックス 7">
            <a:extLst>
              <a:ext uri="{FF2B5EF4-FFF2-40B4-BE49-F238E27FC236}">
                <a16:creationId xmlns:a16="http://schemas.microsoft.com/office/drawing/2014/main" id="{660E3A7E-34C9-BC36-335F-E898C0E8FF9D}"/>
              </a:ext>
            </a:extLst>
          </p:cNvPr>
          <p:cNvSpPr txBox="1"/>
          <p:nvPr/>
        </p:nvSpPr>
        <p:spPr>
          <a:xfrm>
            <a:off x="4865614" y="5465428"/>
            <a:ext cx="4240635" cy="646331"/>
          </a:xfrm>
          <a:prstGeom prst="rect">
            <a:avLst/>
          </a:prstGeom>
          <a:noFill/>
        </p:spPr>
        <p:txBody>
          <a:bodyPr wrap="square" rtlCol="0">
            <a:spAutoFit/>
          </a:bodyPr>
          <a:lstStyle/>
          <a:p>
            <a:r>
              <a:rPr kumimoji="1" lang="ja-JP" altLang="en-US" dirty="0"/>
              <a:t>ログイン名</a:t>
            </a:r>
            <a:r>
              <a:rPr kumimoji="1" lang="en-US" altLang="ja-JP" dirty="0"/>
              <a:t>: </a:t>
            </a:r>
            <a:r>
              <a:rPr lang="ja-JP" altLang="en-US" dirty="0"/>
              <a:t>sthp-yoyaku@fureai-g.or.jp</a:t>
            </a:r>
            <a:endParaRPr kumimoji="1" lang="en-US" altLang="ja-JP" dirty="0"/>
          </a:p>
          <a:p>
            <a:r>
              <a:rPr kumimoji="1" lang="ja-JP" altLang="en-US" dirty="0"/>
              <a:t>パスワード</a:t>
            </a:r>
            <a:r>
              <a:rPr kumimoji="1" lang="en-US" altLang="ja-JP" dirty="0"/>
              <a:t>: **********</a:t>
            </a:r>
            <a:endParaRPr kumimoji="1" lang="ja-JP" altLang="en-US" dirty="0"/>
          </a:p>
        </p:txBody>
      </p:sp>
      <p:pic>
        <p:nvPicPr>
          <p:cNvPr id="12" name="図 11">
            <a:extLst>
              <a:ext uri="{FF2B5EF4-FFF2-40B4-BE49-F238E27FC236}">
                <a16:creationId xmlns:a16="http://schemas.microsoft.com/office/drawing/2014/main" id="{42071DE0-54F9-BD6C-1491-FEE36D2368B5}"/>
              </a:ext>
            </a:extLst>
          </p:cNvPr>
          <p:cNvPicPr>
            <a:picLocks noChangeAspect="1"/>
          </p:cNvPicPr>
          <p:nvPr/>
        </p:nvPicPr>
        <p:blipFill>
          <a:blip r:embed="rId3"/>
          <a:stretch>
            <a:fillRect/>
          </a:stretch>
        </p:blipFill>
        <p:spPr>
          <a:xfrm>
            <a:off x="257821" y="1132134"/>
            <a:ext cx="6328815" cy="3771231"/>
          </a:xfrm>
          <a:prstGeom prst="rect">
            <a:avLst/>
          </a:prstGeom>
          <a:ln>
            <a:solidFill>
              <a:schemeClr val="bg1">
                <a:lumMod val="85000"/>
              </a:schemeClr>
            </a:solidFill>
          </a:ln>
        </p:spPr>
      </p:pic>
      <p:sp>
        <p:nvSpPr>
          <p:cNvPr id="15" name="正方形/長方形 14">
            <a:extLst>
              <a:ext uri="{FF2B5EF4-FFF2-40B4-BE49-F238E27FC236}">
                <a16:creationId xmlns:a16="http://schemas.microsoft.com/office/drawing/2014/main" id="{0E5B2DCC-1204-15DF-AFD8-A128AE568C8B}"/>
              </a:ext>
            </a:extLst>
          </p:cNvPr>
          <p:cNvSpPr/>
          <p:nvPr/>
        </p:nvSpPr>
        <p:spPr>
          <a:xfrm>
            <a:off x="725648" y="2101442"/>
            <a:ext cx="2457974" cy="2072081"/>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DDA36E39-5831-F194-FD8A-D17D11BDCC1C}"/>
              </a:ext>
            </a:extLst>
          </p:cNvPr>
          <p:cNvSpPr txBox="1"/>
          <p:nvPr/>
        </p:nvSpPr>
        <p:spPr>
          <a:xfrm>
            <a:off x="4612711" y="6354661"/>
            <a:ext cx="4493538" cy="276999"/>
          </a:xfrm>
          <a:prstGeom prst="rect">
            <a:avLst/>
          </a:prstGeom>
          <a:noFill/>
        </p:spPr>
        <p:txBody>
          <a:bodyPr wrap="none" rtlCol="0">
            <a:spAutoFit/>
          </a:bodyPr>
          <a:lstStyle/>
          <a:p>
            <a:r>
              <a:rPr kumimoji="1" lang="ja-JP" altLang="en-US" sz="1200" dirty="0"/>
              <a:t>パスワードについては情報システム室へお問い合わせください</a:t>
            </a:r>
          </a:p>
        </p:txBody>
      </p:sp>
    </p:spTree>
    <p:extLst>
      <p:ext uri="{BB962C8B-B14F-4D97-AF65-F5344CB8AC3E}">
        <p14:creationId xmlns:p14="http://schemas.microsoft.com/office/powerpoint/2010/main" val="1724871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3BC26D-DFFF-66E6-5E09-3AECB6DA5E5D}"/>
              </a:ext>
            </a:extLst>
          </p:cNvPr>
          <p:cNvSpPr>
            <a:spLocks noGrp="1"/>
          </p:cNvSpPr>
          <p:nvPr>
            <p:ph type="title"/>
          </p:nvPr>
        </p:nvSpPr>
        <p:spPr/>
        <p:txBody>
          <a:bodyPr/>
          <a:lstStyle/>
          <a:p>
            <a:r>
              <a:rPr kumimoji="1" lang="en-US" altLang="ja-JP" dirty="0"/>
              <a:t>Dashboard</a:t>
            </a:r>
            <a:r>
              <a:rPr kumimoji="1" lang="ja-JP" altLang="en-US" dirty="0"/>
              <a:t>画面</a:t>
            </a:r>
          </a:p>
        </p:txBody>
      </p:sp>
      <p:pic>
        <p:nvPicPr>
          <p:cNvPr id="7" name="図 6">
            <a:extLst>
              <a:ext uri="{FF2B5EF4-FFF2-40B4-BE49-F238E27FC236}">
                <a16:creationId xmlns:a16="http://schemas.microsoft.com/office/drawing/2014/main" id="{D5754CCF-83BB-6E4D-083C-B5D76B52AFC4}"/>
              </a:ext>
            </a:extLst>
          </p:cNvPr>
          <p:cNvPicPr>
            <a:picLocks noChangeAspect="1"/>
          </p:cNvPicPr>
          <p:nvPr/>
        </p:nvPicPr>
        <p:blipFill>
          <a:blip r:embed="rId2"/>
          <a:stretch>
            <a:fillRect/>
          </a:stretch>
        </p:blipFill>
        <p:spPr>
          <a:xfrm>
            <a:off x="701139" y="494950"/>
            <a:ext cx="8126831" cy="6098797"/>
          </a:xfrm>
          <a:prstGeom prst="rect">
            <a:avLst/>
          </a:prstGeom>
        </p:spPr>
      </p:pic>
    </p:spTree>
    <p:extLst>
      <p:ext uri="{BB962C8B-B14F-4D97-AF65-F5344CB8AC3E}">
        <p14:creationId xmlns:p14="http://schemas.microsoft.com/office/powerpoint/2010/main" val="1534963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F6D146-AEB8-C2A4-9E52-EA8AB350EF99}"/>
              </a:ext>
            </a:extLst>
          </p:cNvPr>
          <p:cNvSpPr>
            <a:spLocks noGrp="1"/>
          </p:cNvSpPr>
          <p:nvPr>
            <p:ph type="title"/>
          </p:nvPr>
        </p:nvSpPr>
        <p:spPr/>
        <p:txBody>
          <a:bodyPr/>
          <a:lstStyle/>
          <a:p>
            <a:r>
              <a:rPr kumimoji="1" lang="ja-JP" altLang="en-US" dirty="0"/>
              <a:t>機能ブロックの関係</a:t>
            </a:r>
          </a:p>
        </p:txBody>
      </p:sp>
      <p:pic>
        <p:nvPicPr>
          <p:cNvPr id="9" name="図 8">
            <a:extLst>
              <a:ext uri="{FF2B5EF4-FFF2-40B4-BE49-F238E27FC236}">
                <a16:creationId xmlns:a16="http://schemas.microsoft.com/office/drawing/2014/main" id="{FDD94DA6-690B-D92D-8ED4-278758B84E62}"/>
              </a:ext>
            </a:extLst>
          </p:cNvPr>
          <p:cNvPicPr>
            <a:picLocks noChangeAspect="1"/>
          </p:cNvPicPr>
          <p:nvPr/>
        </p:nvPicPr>
        <p:blipFill>
          <a:blip r:embed="rId2"/>
          <a:srcRect l="39852" t="43285" r="39290" b="33296"/>
          <a:stretch>
            <a:fillRect/>
          </a:stretch>
        </p:blipFill>
        <p:spPr>
          <a:xfrm>
            <a:off x="3349627" y="2287505"/>
            <a:ext cx="1703917" cy="1435476"/>
          </a:xfrm>
          <a:prstGeom prst="roundRect">
            <a:avLst>
              <a:gd name="adj" fmla="val 6685"/>
            </a:avLst>
          </a:prstGeom>
          <a:ln>
            <a:solidFill>
              <a:schemeClr val="bg1">
                <a:lumMod val="85000"/>
              </a:schemeClr>
            </a:solidFill>
          </a:ln>
        </p:spPr>
      </p:pic>
      <p:pic>
        <p:nvPicPr>
          <p:cNvPr id="11" name="図 10">
            <a:extLst>
              <a:ext uri="{FF2B5EF4-FFF2-40B4-BE49-F238E27FC236}">
                <a16:creationId xmlns:a16="http://schemas.microsoft.com/office/drawing/2014/main" id="{3A7E351F-7131-F84E-F24D-9EC5C04FF6AA}"/>
              </a:ext>
            </a:extLst>
          </p:cNvPr>
          <p:cNvPicPr>
            <a:picLocks noChangeAspect="1"/>
          </p:cNvPicPr>
          <p:nvPr/>
        </p:nvPicPr>
        <p:blipFill>
          <a:blip r:embed="rId2"/>
          <a:srcRect l="63133" t="43015" r="16009" b="33566"/>
          <a:stretch>
            <a:fillRect/>
          </a:stretch>
        </p:blipFill>
        <p:spPr>
          <a:xfrm>
            <a:off x="7420433" y="2279039"/>
            <a:ext cx="1703917" cy="1435476"/>
          </a:xfrm>
          <a:prstGeom prst="roundRect">
            <a:avLst>
              <a:gd name="adj" fmla="val 6685"/>
            </a:avLst>
          </a:prstGeom>
          <a:ln>
            <a:solidFill>
              <a:schemeClr val="bg1">
                <a:lumMod val="85000"/>
              </a:schemeClr>
            </a:solidFill>
          </a:ln>
        </p:spPr>
      </p:pic>
      <p:pic>
        <p:nvPicPr>
          <p:cNvPr id="13" name="図 12">
            <a:extLst>
              <a:ext uri="{FF2B5EF4-FFF2-40B4-BE49-F238E27FC236}">
                <a16:creationId xmlns:a16="http://schemas.microsoft.com/office/drawing/2014/main" id="{9C17E545-90CD-B7CD-382E-7E470923AB3C}"/>
              </a:ext>
            </a:extLst>
          </p:cNvPr>
          <p:cNvPicPr>
            <a:picLocks noChangeAspect="1"/>
          </p:cNvPicPr>
          <p:nvPr/>
        </p:nvPicPr>
        <p:blipFill>
          <a:blip r:embed="rId2"/>
          <a:srcRect l="16604" t="69169" r="62538" b="7412"/>
          <a:stretch>
            <a:fillRect/>
          </a:stretch>
        </p:blipFill>
        <p:spPr>
          <a:xfrm>
            <a:off x="852138" y="2279039"/>
            <a:ext cx="1703917" cy="1435476"/>
          </a:xfrm>
          <a:prstGeom prst="roundRect">
            <a:avLst>
              <a:gd name="adj" fmla="val 6685"/>
            </a:avLst>
          </a:prstGeom>
          <a:ln>
            <a:solidFill>
              <a:schemeClr val="bg1">
                <a:lumMod val="85000"/>
              </a:schemeClr>
            </a:solidFill>
          </a:ln>
        </p:spPr>
      </p:pic>
      <p:pic>
        <p:nvPicPr>
          <p:cNvPr id="15" name="図 14">
            <a:extLst>
              <a:ext uri="{FF2B5EF4-FFF2-40B4-BE49-F238E27FC236}">
                <a16:creationId xmlns:a16="http://schemas.microsoft.com/office/drawing/2014/main" id="{D60CB745-D215-6324-3832-C8F8C7DA1900}"/>
              </a:ext>
            </a:extLst>
          </p:cNvPr>
          <p:cNvPicPr>
            <a:picLocks noChangeAspect="1"/>
          </p:cNvPicPr>
          <p:nvPr/>
        </p:nvPicPr>
        <p:blipFill>
          <a:blip r:embed="rId2"/>
          <a:srcRect l="16419" t="43069" r="62723" b="33512"/>
          <a:stretch>
            <a:fillRect/>
          </a:stretch>
        </p:blipFill>
        <p:spPr>
          <a:xfrm>
            <a:off x="7420432" y="4744055"/>
            <a:ext cx="1703917" cy="1435476"/>
          </a:xfrm>
          <a:prstGeom prst="roundRect">
            <a:avLst>
              <a:gd name="adj" fmla="val 6685"/>
            </a:avLst>
          </a:prstGeom>
          <a:ln>
            <a:solidFill>
              <a:schemeClr val="bg1">
                <a:lumMod val="85000"/>
              </a:schemeClr>
            </a:solidFill>
          </a:ln>
        </p:spPr>
      </p:pic>
      <p:pic>
        <p:nvPicPr>
          <p:cNvPr id="17" name="グラフィックス 16" descr="ユーザー 単色塗りつぶし">
            <a:extLst>
              <a:ext uri="{FF2B5EF4-FFF2-40B4-BE49-F238E27FC236}">
                <a16:creationId xmlns:a16="http://schemas.microsoft.com/office/drawing/2014/main" id="{DAE5C5FA-3566-E279-28EE-CD3AA378A6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67373" y="5004593"/>
            <a:ext cx="914400" cy="914400"/>
          </a:xfrm>
          <a:prstGeom prst="rect">
            <a:avLst/>
          </a:prstGeom>
        </p:spPr>
      </p:pic>
      <p:cxnSp>
        <p:nvCxnSpPr>
          <p:cNvPr id="19" name="直線矢印コネクタ 18">
            <a:extLst>
              <a:ext uri="{FF2B5EF4-FFF2-40B4-BE49-F238E27FC236}">
                <a16:creationId xmlns:a16="http://schemas.microsoft.com/office/drawing/2014/main" id="{13AA14DD-9FF2-EAFD-F21B-09F218C28DA1}"/>
              </a:ext>
            </a:extLst>
          </p:cNvPr>
          <p:cNvCxnSpPr>
            <a:stCxn id="9" idx="3"/>
            <a:endCxn id="11" idx="1"/>
          </p:cNvCxnSpPr>
          <p:nvPr/>
        </p:nvCxnSpPr>
        <p:spPr>
          <a:xfrm flipV="1">
            <a:off x="5053544" y="2996777"/>
            <a:ext cx="2366889" cy="84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直線矢印コネクタ 20">
            <a:extLst>
              <a:ext uri="{FF2B5EF4-FFF2-40B4-BE49-F238E27FC236}">
                <a16:creationId xmlns:a16="http://schemas.microsoft.com/office/drawing/2014/main" id="{70F7B64D-7162-5410-361B-C40CF097782A}"/>
              </a:ext>
            </a:extLst>
          </p:cNvPr>
          <p:cNvCxnSpPr>
            <a:cxnSpLocks/>
            <a:stCxn id="13" idx="3"/>
            <a:endCxn id="9" idx="1"/>
          </p:cNvCxnSpPr>
          <p:nvPr/>
        </p:nvCxnSpPr>
        <p:spPr>
          <a:xfrm>
            <a:off x="2556055" y="2996777"/>
            <a:ext cx="793572" cy="84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34FC36CD-46EB-BFF4-B0A6-E8EBACD953E4}"/>
              </a:ext>
            </a:extLst>
          </p:cNvPr>
          <p:cNvCxnSpPr>
            <a:stCxn id="11" idx="2"/>
            <a:endCxn id="15" idx="0"/>
          </p:cNvCxnSpPr>
          <p:nvPr/>
        </p:nvCxnSpPr>
        <p:spPr>
          <a:xfrm flipH="1">
            <a:off x="8272391" y="3714515"/>
            <a:ext cx="1" cy="10295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直線矢印コネクタ 31">
            <a:extLst>
              <a:ext uri="{FF2B5EF4-FFF2-40B4-BE49-F238E27FC236}">
                <a16:creationId xmlns:a16="http://schemas.microsoft.com/office/drawing/2014/main" id="{219E42D7-3118-6B43-3A48-0B911695ADAA}"/>
              </a:ext>
            </a:extLst>
          </p:cNvPr>
          <p:cNvCxnSpPr>
            <a:cxnSpLocks/>
            <a:endCxn id="11" idx="0"/>
          </p:cNvCxnSpPr>
          <p:nvPr/>
        </p:nvCxnSpPr>
        <p:spPr>
          <a:xfrm>
            <a:off x="8272390" y="1602978"/>
            <a:ext cx="2" cy="6760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直線矢印コネクタ 44">
            <a:extLst>
              <a:ext uri="{FF2B5EF4-FFF2-40B4-BE49-F238E27FC236}">
                <a16:creationId xmlns:a16="http://schemas.microsoft.com/office/drawing/2014/main" id="{F8A3692A-EF20-C37E-8FC6-93C62431AEE5}"/>
              </a:ext>
            </a:extLst>
          </p:cNvPr>
          <p:cNvCxnSpPr>
            <a:cxnSpLocks/>
            <a:stCxn id="15" idx="1"/>
          </p:cNvCxnSpPr>
          <p:nvPr/>
        </p:nvCxnSpPr>
        <p:spPr>
          <a:xfrm flipH="1">
            <a:off x="4681773" y="5461793"/>
            <a:ext cx="273865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9" name="グラフィックス 48" descr="ユーザー 単色塗りつぶし">
            <a:extLst>
              <a:ext uri="{FF2B5EF4-FFF2-40B4-BE49-F238E27FC236}">
                <a16:creationId xmlns:a16="http://schemas.microsoft.com/office/drawing/2014/main" id="{DE2AA312-4AE9-85D8-F851-B386F503FB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5190" y="450260"/>
            <a:ext cx="914400" cy="914400"/>
          </a:xfrm>
          <a:prstGeom prst="rect">
            <a:avLst/>
          </a:prstGeom>
        </p:spPr>
      </p:pic>
      <p:cxnSp>
        <p:nvCxnSpPr>
          <p:cNvPr id="52" name="直線矢印コネクタ 51">
            <a:extLst>
              <a:ext uri="{FF2B5EF4-FFF2-40B4-BE49-F238E27FC236}">
                <a16:creationId xmlns:a16="http://schemas.microsoft.com/office/drawing/2014/main" id="{B60AF486-3C1D-7FC0-9509-E242D9CF82B8}"/>
              </a:ext>
            </a:extLst>
          </p:cNvPr>
          <p:cNvCxnSpPr>
            <a:cxnSpLocks/>
          </p:cNvCxnSpPr>
          <p:nvPr/>
        </p:nvCxnSpPr>
        <p:spPr>
          <a:xfrm flipH="1" flipV="1">
            <a:off x="2046291" y="4229285"/>
            <a:ext cx="1729315" cy="13613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直線矢印コネクタ 52">
            <a:extLst>
              <a:ext uri="{FF2B5EF4-FFF2-40B4-BE49-F238E27FC236}">
                <a16:creationId xmlns:a16="http://schemas.microsoft.com/office/drawing/2014/main" id="{A48AFE1C-8745-5394-9D81-A5C563E4285E}"/>
              </a:ext>
            </a:extLst>
          </p:cNvPr>
          <p:cNvCxnSpPr>
            <a:cxnSpLocks/>
            <a:endCxn id="9" idx="2"/>
          </p:cNvCxnSpPr>
          <p:nvPr/>
        </p:nvCxnSpPr>
        <p:spPr>
          <a:xfrm flipV="1">
            <a:off x="4201586" y="3722981"/>
            <a:ext cx="0" cy="13613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テキスト ボックス 57">
            <a:extLst>
              <a:ext uri="{FF2B5EF4-FFF2-40B4-BE49-F238E27FC236}">
                <a16:creationId xmlns:a16="http://schemas.microsoft.com/office/drawing/2014/main" id="{34E5CC80-D1C7-12D1-3502-D1CDCE9A12EC}"/>
              </a:ext>
            </a:extLst>
          </p:cNvPr>
          <p:cNvSpPr txBox="1"/>
          <p:nvPr/>
        </p:nvSpPr>
        <p:spPr>
          <a:xfrm>
            <a:off x="154380" y="825009"/>
            <a:ext cx="2634960" cy="1107996"/>
          </a:xfrm>
          <a:prstGeom prst="rect">
            <a:avLst/>
          </a:prstGeom>
          <a:noFill/>
        </p:spPr>
        <p:txBody>
          <a:bodyPr wrap="square" rtlCol="0">
            <a:spAutoFit/>
          </a:bodyPr>
          <a:lstStyle/>
          <a:p>
            <a:r>
              <a:rPr kumimoji="1" lang="ja-JP" altLang="en-US" sz="1100" dirty="0"/>
              <a:t>医師毎の診療予定を管理することで患者の希望条件を特定しやすくします。このブロックの運用を省略することもできますが、その一方でスタッフから患者へ架電調整しなければならない可能性が増えます（トレードオフ）。</a:t>
            </a:r>
            <a:endParaRPr kumimoji="1" lang="en-US" altLang="ja-JP" sz="1100" dirty="0"/>
          </a:p>
        </p:txBody>
      </p:sp>
      <p:sp>
        <p:nvSpPr>
          <p:cNvPr id="62" name="テキスト ボックス 61">
            <a:extLst>
              <a:ext uri="{FF2B5EF4-FFF2-40B4-BE49-F238E27FC236}">
                <a16:creationId xmlns:a16="http://schemas.microsoft.com/office/drawing/2014/main" id="{1B8D4D60-A1A9-A3CB-7FD2-A31ADE5B194E}"/>
              </a:ext>
            </a:extLst>
          </p:cNvPr>
          <p:cNvSpPr txBox="1"/>
          <p:nvPr/>
        </p:nvSpPr>
        <p:spPr>
          <a:xfrm>
            <a:off x="3097364" y="852296"/>
            <a:ext cx="2723823" cy="1107996"/>
          </a:xfrm>
          <a:prstGeom prst="rect">
            <a:avLst/>
          </a:prstGeom>
          <a:noFill/>
        </p:spPr>
        <p:txBody>
          <a:bodyPr wrap="none" rtlCol="0">
            <a:spAutoFit/>
          </a:bodyPr>
          <a:lstStyle/>
          <a:p>
            <a:r>
              <a:rPr kumimoji="1" lang="ja-JP" altLang="en-US" sz="1100" dirty="0"/>
              <a:t>患者が閲覧する</a:t>
            </a:r>
            <a:r>
              <a:rPr kumimoji="1" lang="en-US" altLang="ja-JP" sz="1100" dirty="0"/>
              <a:t>Web</a:t>
            </a:r>
            <a:r>
              <a:rPr kumimoji="1" lang="ja-JP" altLang="en-US" sz="1100" dirty="0"/>
              <a:t>フォームの見え方を</a:t>
            </a:r>
            <a:endParaRPr kumimoji="1" lang="en-US" altLang="ja-JP" sz="1100" dirty="0"/>
          </a:p>
          <a:p>
            <a:r>
              <a:rPr kumimoji="1" lang="ja-JP" altLang="en-US" sz="1100" dirty="0"/>
              <a:t>診療科毎に制御します。たとえば</a:t>
            </a:r>
            <a:endParaRPr kumimoji="1" lang="en-US" altLang="ja-JP" sz="1100" dirty="0"/>
          </a:p>
          <a:p>
            <a:r>
              <a:rPr kumimoji="1" lang="ja-JP" altLang="en-US" sz="1100" dirty="0"/>
              <a:t>「一時的に予約を受け付けない」、</a:t>
            </a:r>
            <a:endParaRPr kumimoji="1" lang="en-US" altLang="ja-JP" sz="1100" dirty="0"/>
          </a:p>
          <a:p>
            <a:r>
              <a:rPr kumimoji="1" lang="ja-JP" altLang="en-US" sz="1100" dirty="0"/>
              <a:t>「予約時の注意内容を変更する」、</a:t>
            </a:r>
            <a:endParaRPr kumimoji="1" lang="en-US" altLang="ja-JP" sz="1100" dirty="0"/>
          </a:p>
          <a:p>
            <a:r>
              <a:rPr kumimoji="1" lang="ja-JP" altLang="en-US" sz="1100" dirty="0"/>
              <a:t>「予約の受付け期間を変更する」</a:t>
            </a:r>
            <a:endParaRPr kumimoji="1" lang="en-US" altLang="ja-JP" sz="1100" dirty="0"/>
          </a:p>
          <a:p>
            <a:r>
              <a:rPr kumimoji="1" lang="ja-JP" altLang="en-US" sz="1100" dirty="0"/>
              <a:t>など、、、</a:t>
            </a:r>
            <a:endParaRPr kumimoji="1" lang="en-US" altLang="ja-JP" sz="1100" dirty="0"/>
          </a:p>
        </p:txBody>
      </p:sp>
      <p:sp>
        <p:nvSpPr>
          <p:cNvPr id="63" name="テキスト ボックス 62">
            <a:extLst>
              <a:ext uri="{FF2B5EF4-FFF2-40B4-BE49-F238E27FC236}">
                <a16:creationId xmlns:a16="http://schemas.microsoft.com/office/drawing/2014/main" id="{F422BA5F-7CE2-CEE9-37DC-7A82DE3E605E}"/>
              </a:ext>
            </a:extLst>
          </p:cNvPr>
          <p:cNvSpPr txBox="1"/>
          <p:nvPr/>
        </p:nvSpPr>
        <p:spPr>
          <a:xfrm>
            <a:off x="3549259" y="6038172"/>
            <a:ext cx="1350627" cy="369332"/>
          </a:xfrm>
          <a:prstGeom prst="rect">
            <a:avLst/>
          </a:prstGeom>
          <a:noFill/>
        </p:spPr>
        <p:txBody>
          <a:bodyPr wrap="square" rtlCol="0">
            <a:spAutoFit/>
          </a:bodyPr>
          <a:lstStyle/>
          <a:p>
            <a:pPr algn="ctr"/>
            <a:r>
              <a:rPr kumimoji="1" lang="ja-JP" altLang="en-US" dirty="0"/>
              <a:t>スタッフ</a:t>
            </a:r>
          </a:p>
        </p:txBody>
      </p:sp>
      <p:sp>
        <p:nvSpPr>
          <p:cNvPr id="65" name="テキスト ボックス 64">
            <a:extLst>
              <a:ext uri="{FF2B5EF4-FFF2-40B4-BE49-F238E27FC236}">
                <a16:creationId xmlns:a16="http://schemas.microsoft.com/office/drawing/2014/main" id="{09CD17BC-411A-C318-E381-36F183834F6D}"/>
              </a:ext>
            </a:extLst>
          </p:cNvPr>
          <p:cNvSpPr txBox="1"/>
          <p:nvPr/>
        </p:nvSpPr>
        <p:spPr>
          <a:xfrm>
            <a:off x="7912210" y="1233646"/>
            <a:ext cx="686500" cy="369332"/>
          </a:xfrm>
          <a:prstGeom prst="rect">
            <a:avLst/>
          </a:prstGeom>
          <a:noFill/>
        </p:spPr>
        <p:txBody>
          <a:bodyPr wrap="square" rtlCol="0">
            <a:spAutoFit/>
          </a:bodyPr>
          <a:lstStyle/>
          <a:p>
            <a:pPr algn="ctr"/>
            <a:r>
              <a:rPr kumimoji="1" lang="ja-JP" altLang="en-US" dirty="0"/>
              <a:t>患者</a:t>
            </a:r>
          </a:p>
        </p:txBody>
      </p:sp>
      <p:sp>
        <p:nvSpPr>
          <p:cNvPr id="67" name="四角形: 角を丸くする 66">
            <a:extLst>
              <a:ext uri="{FF2B5EF4-FFF2-40B4-BE49-F238E27FC236}">
                <a16:creationId xmlns:a16="http://schemas.microsoft.com/office/drawing/2014/main" id="{2D42FC9D-0591-1E1F-C5F9-D11763B1C3EC}"/>
              </a:ext>
            </a:extLst>
          </p:cNvPr>
          <p:cNvSpPr/>
          <p:nvPr/>
        </p:nvSpPr>
        <p:spPr>
          <a:xfrm>
            <a:off x="1321280" y="3831281"/>
            <a:ext cx="765631" cy="161946"/>
          </a:xfrm>
          <a:prstGeom prst="roundRect">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50" dirty="0">
                <a:solidFill>
                  <a:schemeClr val="tx1"/>
                </a:solidFill>
              </a:rPr>
              <a:t>オプション</a:t>
            </a:r>
          </a:p>
        </p:txBody>
      </p:sp>
    </p:spTree>
    <p:extLst>
      <p:ext uri="{BB962C8B-B14F-4D97-AF65-F5344CB8AC3E}">
        <p14:creationId xmlns:p14="http://schemas.microsoft.com/office/powerpoint/2010/main" val="725406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C60873-3A08-1151-73C5-A49F2F7570F4}"/>
              </a:ext>
            </a:extLst>
          </p:cNvPr>
          <p:cNvSpPr>
            <a:spLocks noGrp="1"/>
          </p:cNvSpPr>
          <p:nvPr>
            <p:ph type="title"/>
          </p:nvPr>
        </p:nvSpPr>
        <p:spPr/>
        <p:txBody>
          <a:bodyPr/>
          <a:lstStyle/>
          <a:p>
            <a:r>
              <a:rPr lang="ja-JP" altLang="en-US" dirty="0"/>
              <a:t>本システムと電子カルテにおける予約システムとの関係</a:t>
            </a:r>
            <a:endParaRPr kumimoji="1" lang="ja-JP" altLang="en-US" dirty="0"/>
          </a:p>
        </p:txBody>
      </p:sp>
      <p:sp>
        <p:nvSpPr>
          <p:cNvPr id="3" name="コンテンツ プレースホルダー 2">
            <a:extLst>
              <a:ext uri="{FF2B5EF4-FFF2-40B4-BE49-F238E27FC236}">
                <a16:creationId xmlns:a16="http://schemas.microsoft.com/office/drawing/2014/main" id="{8790C1D7-80BB-CD2F-29F1-1D3445FBDE3C}"/>
              </a:ext>
            </a:extLst>
          </p:cNvPr>
          <p:cNvSpPr>
            <a:spLocks noGrp="1"/>
          </p:cNvSpPr>
          <p:nvPr>
            <p:ph idx="1"/>
          </p:nvPr>
        </p:nvSpPr>
        <p:spPr/>
        <p:txBody>
          <a:bodyPr/>
          <a:lstStyle/>
          <a:p>
            <a:r>
              <a:rPr kumimoji="1" lang="ja-JP" altLang="en-US" dirty="0"/>
              <a:t>本システムは、旅行予約サイトのシステムのように、電子カルテ側と連動している従来の予約システムとの直接的な連携はしていません</a:t>
            </a:r>
            <a:r>
              <a:rPr lang="ja-JP" altLang="en-US" dirty="0"/>
              <a:t>（電子カルテ側の予約システムは院内専用のネットワーク上で厳重なセキュリティ管理において稼働しており、これに対して本システムは患者に対して</a:t>
            </a:r>
            <a:r>
              <a:rPr lang="en-US" altLang="ja-JP" dirty="0"/>
              <a:t>Web</a:t>
            </a:r>
            <a:r>
              <a:rPr lang="ja-JP" altLang="en-US" dirty="0"/>
              <a:t>フォームをインターネット上の家庭の</a:t>
            </a:r>
            <a:r>
              <a:rPr lang="en-US" altLang="ja-JP" dirty="0"/>
              <a:t>PC</a:t>
            </a:r>
            <a:r>
              <a:rPr lang="ja-JP" altLang="en-US" dirty="0"/>
              <a:t>やスマートフォンなどの個人所有機器で展開をするなど、直接的に相互で連携することが困難です。</a:t>
            </a:r>
            <a:r>
              <a:rPr kumimoji="1" lang="ja-JP" altLang="en-US" dirty="0"/>
              <a:t>そのため、電子カルテの予約システムは従来の電話からの予約も含めた運用を継続させつつ、本システムはその存在を前提にした、チケットをベースとした複雑な管理を支援させることを目的としています）</a:t>
            </a:r>
            <a:endParaRPr kumimoji="1" lang="en-US" altLang="ja-JP" dirty="0"/>
          </a:p>
          <a:p>
            <a:endParaRPr lang="en-US" altLang="ja-JP" dirty="0"/>
          </a:p>
          <a:p>
            <a:endParaRPr kumimoji="1" lang="en-US" altLang="ja-JP" dirty="0"/>
          </a:p>
          <a:p>
            <a:endParaRPr kumimoji="1" lang="ja-JP" altLang="en-US" dirty="0"/>
          </a:p>
        </p:txBody>
      </p:sp>
    </p:spTree>
    <p:extLst>
      <p:ext uri="{BB962C8B-B14F-4D97-AF65-F5344CB8AC3E}">
        <p14:creationId xmlns:p14="http://schemas.microsoft.com/office/powerpoint/2010/main" val="690819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a:extLst>
              <a:ext uri="{FF2B5EF4-FFF2-40B4-BE49-F238E27FC236}">
                <a16:creationId xmlns:a16="http://schemas.microsoft.com/office/drawing/2014/main" id="{64EDDADB-3FB6-B861-8DD0-EC5B9D449D3D}"/>
              </a:ext>
            </a:extLst>
          </p:cNvPr>
          <p:cNvPicPr>
            <a:picLocks noGrp="1" noChangeAspect="1"/>
          </p:cNvPicPr>
          <p:nvPr>
            <p:ph idx="1"/>
          </p:nvPr>
        </p:nvPicPr>
        <p:blipFill>
          <a:blip r:embed="rId2"/>
          <a:srcRect l="16419" t="43069" r="62723" b="33512"/>
          <a:stretch>
            <a:fillRect/>
          </a:stretch>
        </p:blipFill>
        <p:spPr>
          <a:xfrm>
            <a:off x="3475347" y="2415300"/>
            <a:ext cx="2929907" cy="2468724"/>
          </a:xfrm>
          <a:prstGeom prst="roundRect">
            <a:avLst>
              <a:gd name="adj" fmla="val 6685"/>
            </a:avLst>
          </a:prstGeom>
          <a:ln>
            <a:solidFill>
              <a:schemeClr val="bg1">
                <a:lumMod val="85000"/>
              </a:schemeClr>
            </a:solidFill>
          </a:ln>
        </p:spPr>
      </p:pic>
    </p:spTree>
    <p:extLst>
      <p:ext uri="{BB962C8B-B14F-4D97-AF65-F5344CB8AC3E}">
        <p14:creationId xmlns:p14="http://schemas.microsoft.com/office/powerpoint/2010/main" val="3483876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886EC7-E5F1-5883-33D2-043FA3AFF0D7}"/>
              </a:ext>
            </a:extLst>
          </p:cNvPr>
          <p:cNvSpPr>
            <a:spLocks noGrp="1"/>
          </p:cNvSpPr>
          <p:nvPr>
            <p:ph type="title"/>
          </p:nvPr>
        </p:nvSpPr>
        <p:spPr/>
        <p:txBody>
          <a:bodyPr/>
          <a:lstStyle/>
          <a:p>
            <a:r>
              <a:rPr lang="ja-JP" altLang="ja-JP"/>
              <a:t>予約チケット管理</a:t>
            </a:r>
          </a:p>
        </p:txBody>
      </p:sp>
      <p:pic>
        <p:nvPicPr>
          <p:cNvPr id="13" name="図 12">
            <a:extLst>
              <a:ext uri="{FF2B5EF4-FFF2-40B4-BE49-F238E27FC236}">
                <a16:creationId xmlns:a16="http://schemas.microsoft.com/office/drawing/2014/main" id="{A998FE95-B656-5492-E2A5-7C7D6C0FAA4C}"/>
              </a:ext>
            </a:extLst>
          </p:cNvPr>
          <p:cNvPicPr>
            <a:picLocks noChangeAspect="1"/>
          </p:cNvPicPr>
          <p:nvPr/>
        </p:nvPicPr>
        <p:blipFill>
          <a:blip r:embed="rId2"/>
          <a:stretch>
            <a:fillRect/>
          </a:stretch>
        </p:blipFill>
        <p:spPr>
          <a:xfrm>
            <a:off x="220975" y="697987"/>
            <a:ext cx="7362673" cy="1953840"/>
          </a:xfrm>
          <a:prstGeom prst="rect">
            <a:avLst/>
          </a:prstGeom>
        </p:spPr>
      </p:pic>
      <p:sp>
        <p:nvSpPr>
          <p:cNvPr id="14" name="テキスト ボックス 13">
            <a:extLst>
              <a:ext uri="{FF2B5EF4-FFF2-40B4-BE49-F238E27FC236}">
                <a16:creationId xmlns:a16="http://schemas.microsoft.com/office/drawing/2014/main" id="{B1D5B198-A16E-5E40-9F04-9F46519CC0DB}"/>
              </a:ext>
            </a:extLst>
          </p:cNvPr>
          <p:cNvSpPr txBox="1"/>
          <p:nvPr/>
        </p:nvSpPr>
        <p:spPr>
          <a:xfrm>
            <a:off x="220975" y="2952927"/>
            <a:ext cx="9879628" cy="2893100"/>
          </a:xfrm>
          <a:prstGeom prst="rect">
            <a:avLst/>
          </a:prstGeom>
          <a:noFill/>
        </p:spPr>
        <p:txBody>
          <a:bodyPr wrap="none" rtlCol="0">
            <a:spAutoFit/>
          </a:bodyPr>
          <a:lstStyle/>
          <a:p>
            <a:r>
              <a:rPr kumimoji="1" lang="en-US" altLang="ja-JP" sz="1400" dirty="0"/>
              <a:t>Web</a:t>
            </a:r>
            <a:r>
              <a:rPr kumimoji="1" lang="ja-JP" altLang="en-US" sz="1400" dirty="0"/>
              <a:t>フォームからの患者依頼は「予約チケット」として管理します。</a:t>
            </a:r>
            <a:endParaRPr kumimoji="1" lang="en-US" altLang="ja-JP" sz="1400" dirty="0"/>
          </a:p>
          <a:p>
            <a:endParaRPr kumimoji="1" lang="en-US" altLang="ja-JP" sz="1400" dirty="0"/>
          </a:p>
          <a:p>
            <a:r>
              <a:rPr kumimoji="1" lang="ja-JP" altLang="en-US" sz="1400" dirty="0"/>
              <a:t>予約チケット一覧画面に新たなチケットが到着すると順次リストアップされていくため定期的に画面をチェックします。</a:t>
            </a:r>
            <a:endParaRPr kumimoji="1" lang="en-US" altLang="ja-JP" sz="1400" dirty="0"/>
          </a:p>
          <a:p>
            <a:r>
              <a:rPr kumimoji="1" lang="ja-JP" altLang="en-US" sz="1400" dirty="0"/>
              <a:t>到着直後の新規チケットはまだどのスタッフが応対するのかは未定となっていますので、</a:t>
            </a:r>
            <a:endParaRPr kumimoji="1" lang="en-US" altLang="ja-JP" sz="1400" dirty="0"/>
          </a:p>
          <a:p>
            <a:r>
              <a:rPr kumimoji="1" lang="ja-JP" altLang="en-US" sz="1400" dirty="0"/>
              <a:t>担当をする人は自らがこれ以後の対応を行う旨を宣言するようになっています（先勝ちです）。</a:t>
            </a:r>
            <a:endParaRPr kumimoji="1" lang="en-US" altLang="ja-JP" sz="1400" dirty="0"/>
          </a:p>
          <a:p>
            <a:r>
              <a:rPr kumimoji="1" lang="ja-JP" altLang="en-US" sz="1400" dirty="0"/>
              <a:t>（依頼内容に応じて担当を分けるなど、各センター内で事前にスタッフ間のルールを取り決めておくなど）</a:t>
            </a:r>
            <a:endParaRPr kumimoji="1" lang="en-US" altLang="ja-JP" sz="1400" dirty="0"/>
          </a:p>
          <a:p>
            <a:endParaRPr kumimoji="1" lang="en-US" altLang="ja-JP" sz="1400" dirty="0"/>
          </a:p>
          <a:p>
            <a:r>
              <a:rPr kumimoji="1" lang="ja-JP" altLang="en-US" sz="1400" dirty="0"/>
              <a:t>チケットと患者への予約への対応の進行に応じて管理状況として遷移していき、最終的に患者の診察が</a:t>
            </a:r>
            <a:br>
              <a:rPr kumimoji="1" lang="en-US" altLang="ja-JP" sz="1400" dirty="0"/>
            </a:br>
            <a:r>
              <a:rPr kumimoji="1" lang="ja-JP" altLang="en-US" sz="1400" dirty="0"/>
              <a:t>終えるまで自らが担当すべき有効なチケットして責任をもって管理します。</a:t>
            </a:r>
            <a:endParaRPr kumimoji="1" lang="en-US" altLang="ja-JP" sz="1400" dirty="0"/>
          </a:p>
          <a:p>
            <a:endParaRPr kumimoji="1" lang="en-US" altLang="ja-JP" sz="1400" dirty="0"/>
          </a:p>
          <a:p>
            <a:r>
              <a:rPr kumimoji="1" lang="ja-JP" altLang="en-US" sz="1400" dirty="0"/>
              <a:t>そのチケットの担当者でないスタッフも管理状況を見ることはできますが管理状況を更新させる操作はできません。</a:t>
            </a:r>
            <a:endParaRPr kumimoji="1" lang="en-US" altLang="ja-JP" sz="1400" dirty="0"/>
          </a:p>
          <a:p>
            <a:r>
              <a:rPr kumimoji="1" lang="ja-JP" altLang="en-US" sz="1400" dirty="0"/>
              <a:t>（操作したい場合は、担当交代の手続きを経る必要があります）</a:t>
            </a:r>
            <a:endParaRPr kumimoji="1" lang="en-US" altLang="ja-JP" sz="1400" dirty="0"/>
          </a:p>
          <a:p>
            <a:endParaRPr kumimoji="1" lang="en-US" altLang="ja-JP" sz="1400" dirty="0"/>
          </a:p>
        </p:txBody>
      </p:sp>
    </p:spTree>
    <p:extLst>
      <p:ext uri="{BB962C8B-B14F-4D97-AF65-F5344CB8AC3E}">
        <p14:creationId xmlns:p14="http://schemas.microsoft.com/office/powerpoint/2010/main" val="2979291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0CF83A-7D75-CD4E-6D89-65DEEA135A0F}"/>
              </a:ext>
            </a:extLst>
          </p:cNvPr>
          <p:cNvSpPr>
            <a:spLocks noGrp="1"/>
          </p:cNvSpPr>
          <p:nvPr>
            <p:ph type="title"/>
          </p:nvPr>
        </p:nvSpPr>
        <p:spPr/>
        <p:txBody>
          <a:bodyPr/>
          <a:lstStyle/>
          <a:p>
            <a:r>
              <a:rPr kumimoji="1" lang="ja-JP" altLang="en-US" dirty="0"/>
              <a:t>管理状況凡例</a:t>
            </a:r>
          </a:p>
        </p:txBody>
      </p:sp>
      <p:pic>
        <p:nvPicPr>
          <p:cNvPr id="12" name="図 11">
            <a:extLst>
              <a:ext uri="{FF2B5EF4-FFF2-40B4-BE49-F238E27FC236}">
                <a16:creationId xmlns:a16="http://schemas.microsoft.com/office/drawing/2014/main" id="{A0264C66-D19A-EC9F-C28C-E60AC28A8D76}"/>
              </a:ext>
            </a:extLst>
          </p:cNvPr>
          <p:cNvPicPr>
            <a:picLocks noChangeAspect="1"/>
          </p:cNvPicPr>
          <p:nvPr/>
        </p:nvPicPr>
        <p:blipFill>
          <a:blip r:embed="rId2"/>
          <a:stretch>
            <a:fillRect/>
          </a:stretch>
        </p:blipFill>
        <p:spPr>
          <a:xfrm>
            <a:off x="4736541" y="183041"/>
            <a:ext cx="4631001" cy="6447366"/>
          </a:xfrm>
          <a:prstGeom prst="rect">
            <a:avLst/>
          </a:prstGeom>
        </p:spPr>
      </p:pic>
    </p:spTree>
    <p:extLst>
      <p:ext uri="{BB962C8B-B14F-4D97-AF65-F5344CB8AC3E}">
        <p14:creationId xmlns:p14="http://schemas.microsoft.com/office/powerpoint/2010/main" val="3063335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0E301-D6B1-2149-3E4F-0251CD0EBBF5}"/>
              </a:ext>
            </a:extLst>
          </p:cNvPr>
          <p:cNvSpPr>
            <a:spLocks noGrp="1"/>
          </p:cNvSpPr>
          <p:nvPr>
            <p:ph type="title"/>
          </p:nvPr>
        </p:nvSpPr>
        <p:spPr/>
        <p:txBody>
          <a:bodyPr/>
          <a:lstStyle/>
          <a:p>
            <a:r>
              <a:rPr lang="en-US" altLang="ja-JP" dirty="0"/>
              <a:t>CRM(Customer Relation Management)</a:t>
            </a:r>
            <a:r>
              <a:rPr kumimoji="1"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3AD05A2C-0B51-4FBD-1892-3806B1807CD6}"/>
              </a:ext>
            </a:extLst>
          </p:cNvPr>
          <p:cNvSpPr>
            <a:spLocks noGrp="1"/>
          </p:cNvSpPr>
          <p:nvPr>
            <p:ph idx="1"/>
          </p:nvPr>
        </p:nvSpPr>
        <p:spPr/>
        <p:txBody>
          <a:bodyPr/>
          <a:lstStyle/>
          <a:p>
            <a:r>
              <a:rPr kumimoji="1" lang="ja-JP" altLang="en-US" dirty="0"/>
              <a:t>本システムは</a:t>
            </a:r>
            <a:r>
              <a:rPr kumimoji="1" lang="en-US" altLang="ja-JP" dirty="0"/>
              <a:t>CRM</a:t>
            </a:r>
            <a:r>
              <a:rPr lang="ja-JP" altLang="en-US" dirty="0"/>
              <a:t>機能を有しており、</a:t>
            </a:r>
            <a:r>
              <a:rPr kumimoji="1" lang="ja-JP" altLang="en-US" dirty="0"/>
              <a:t>、</a:t>
            </a:r>
            <a:r>
              <a:rPr kumimoji="1" lang="en-US" altLang="ja-JP" dirty="0"/>
              <a:t>Web</a:t>
            </a:r>
            <a:r>
              <a:rPr kumimoji="1" lang="ja-JP" altLang="en-US" dirty="0"/>
              <a:t>フォームから寄せられた依頼に始まり、診療が終了する有効期間が過ぎた後、次回</a:t>
            </a:r>
            <a:r>
              <a:rPr lang="ja-JP" altLang="en-US" dirty="0"/>
              <a:t>同一患者からの</a:t>
            </a:r>
            <a:r>
              <a:rPr kumimoji="1" lang="ja-JP" altLang="en-US" dirty="0"/>
              <a:t>予約があったときの対応方法</a:t>
            </a:r>
            <a:r>
              <a:rPr lang="ja-JP" altLang="en-US" dirty="0"/>
              <a:t>の参考とするために</a:t>
            </a:r>
            <a:r>
              <a:rPr kumimoji="1" lang="ja-JP" altLang="en-US" dirty="0"/>
              <a:t>、スタッフが特定の管理状況に遷移したときに</a:t>
            </a:r>
            <a:r>
              <a:rPr lang="ja-JP" altLang="en-US" dirty="0"/>
              <a:t>チェックボックス、メモからなるダイアログが現れて</a:t>
            </a:r>
            <a:r>
              <a:rPr kumimoji="1" lang="ja-JP" altLang="en-US" dirty="0"/>
              <a:t>患者の特徴を残すことができるようになっています。</a:t>
            </a:r>
            <a:endParaRPr kumimoji="1" lang="en-US" altLang="ja-JP" dirty="0"/>
          </a:p>
          <a:p>
            <a:r>
              <a:rPr lang="ja-JP" altLang="en-US" dirty="0"/>
              <a:t>特に電話対応があった場合には、会話を通じてより相手の特徴が把握できるので、今後の対応時に有用な情報があれば残すようにしましょう。</a:t>
            </a:r>
            <a:endParaRPr lang="en-US" altLang="ja-JP" dirty="0"/>
          </a:p>
          <a:p>
            <a:r>
              <a:rPr kumimoji="1" lang="ja-JP" altLang="en-US" dirty="0"/>
              <a:t>本</a:t>
            </a:r>
            <a:r>
              <a:rPr kumimoji="1" lang="en-US" altLang="ja-JP" dirty="0"/>
              <a:t>Web</a:t>
            </a:r>
            <a:r>
              <a:rPr kumimoji="1" lang="ja-JP" altLang="en-US" dirty="0"/>
              <a:t>フォームを</a:t>
            </a:r>
            <a:r>
              <a:rPr kumimoji="1" lang="en-US" altLang="ja-JP" dirty="0"/>
              <a:t>1</a:t>
            </a:r>
            <a:r>
              <a:rPr kumimoji="1" lang="ja-JP" altLang="en-US" dirty="0"/>
              <a:t>回以上利用した患者であれば、次回、</a:t>
            </a:r>
            <a:r>
              <a:rPr kumimoji="1" lang="en-US" altLang="ja-JP" dirty="0"/>
              <a:t>Web</a:t>
            </a:r>
            <a:r>
              <a:rPr kumimoji="1" lang="ja-JP" altLang="en-US" dirty="0"/>
              <a:t>フォーム上で、カルテ</a:t>
            </a:r>
            <a:r>
              <a:rPr lang="en-US" altLang="ja-JP" dirty="0"/>
              <a:t>No</a:t>
            </a:r>
            <a:r>
              <a:rPr lang="ja-JP" altLang="en-US" dirty="0"/>
              <a:t>と誕生日の照合を経て患者の住所や氏名などの情報の</a:t>
            </a:r>
            <a:r>
              <a:rPr kumimoji="1" lang="ja-JP" altLang="en-US" dirty="0"/>
              <a:t>自動入力アシストが働くため、次回以降は患者の入力の手間が軽減されます。</a:t>
            </a:r>
            <a:endParaRPr kumimoji="1" lang="en-US" altLang="ja-JP" dirty="0"/>
          </a:p>
          <a:p>
            <a:r>
              <a:rPr lang="ja-JP" altLang="en-US" dirty="0"/>
              <a:t>ご注意：</a:t>
            </a:r>
            <a:r>
              <a:rPr kumimoji="1" lang="ja-JP" altLang="en-US" dirty="0"/>
              <a:t>本</a:t>
            </a:r>
            <a:r>
              <a:rPr kumimoji="1" lang="en-US" altLang="ja-JP" dirty="0"/>
              <a:t>CRM</a:t>
            </a:r>
            <a:r>
              <a:rPr kumimoji="1" lang="ja-JP" altLang="en-US" dirty="0"/>
              <a:t>は</a:t>
            </a:r>
            <a:r>
              <a:rPr kumimoji="1" lang="en-US" altLang="ja-JP" dirty="0"/>
              <a:t>Web</a:t>
            </a:r>
            <a:r>
              <a:rPr kumimoji="1" lang="ja-JP" altLang="en-US" dirty="0"/>
              <a:t>フォームを使わない従来の電話依頼による予約処理や、診療現場で医師が患者と会話で次回の予約を入れた場合などは</a:t>
            </a:r>
            <a:r>
              <a:rPr lang="ja-JP" altLang="en-US" dirty="0"/>
              <a:t>対象外となります。</a:t>
            </a:r>
            <a:endParaRPr kumimoji="1" lang="en-US" altLang="ja-JP" dirty="0"/>
          </a:p>
          <a:p>
            <a:pPr marL="0" indent="0">
              <a:buNone/>
            </a:pPr>
            <a:r>
              <a:rPr kumimoji="1" lang="ja-JP" altLang="en-US" dirty="0"/>
              <a:t>　</a:t>
            </a:r>
            <a:r>
              <a:rPr kumimoji="1" lang="en-US" altLang="ja-JP" dirty="0"/>
              <a:t>※</a:t>
            </a:r>
            <a:r>
              <a:rPr kumimoji="1" lang="ja-JP" altLang="en-US" dirty="0"/>
              <a:t>従来の電話依頼による予約で、スタッフ自らが患者情報データを</a:t>
            </a:r>
            <a:r>
              <a:rPr kumimoji="1" lang="en-US" altLang="ja-JP" dirty="0"/>
              <a:t>CRM</a:t>
            </a:r>
            <a:r>
              <a:rPr kumimoji="1" lang="ja-JP" altLang="en-US" dirty="0"/>
              <a:t>に手動で登録する方法になったしても、この</a:t>
            </a:r>
            <a:r>
              <a:rPr kumimoji="1" lang="en-US" altLang="ja-JP" dirty="0"/>
              <a:t>CRM</a:t>
            </a:r>
            <a:r>
              <a:rPr kumimoji="1" lang="ja-JP" altLang="en-US" dirty="0"/>
              <a:t>運用をしたい場合は別途ご相談ください。</a:t>
            </a:r>
            <a:endParaRPr kumimoji="1" lang="en-US" altLang="ja-JP" dirty="0"/>
          </a:p>
          <a:p>
            <a:pPr marL="0" indent="0">
              <a:buNone/>
            </a:pPr>
            <a:endParaRPr lang="en-US" altLang="ja-JP" dirty="0"/>
          </a:p>
          <a:p>
            <a:pPr marL="0" indent="0">
              <a:buNone/>
            </a:pPr>
            <a:endParaRPr kumimoji="1" lang="en-US" altLang="ja-JP" dirty="0"/>
          </a:p>
          <a:p>
            <a:endParaRPr kumimoji="1" lang="en-US" altLang="ja-JP" dirty="0"/>
          </a:p>
          <a:p>
            <a:endParaRPr kumimoji="1" lang="en-US" altLang="ja-JP" dirty="0"/>
          </a:p>
          <a:p>
            <a:endParaRPr kumimoji="1" lang="en-US" altLang="ja-JP" dirty="0"/>
          </a:p>
          <a:p>
            <a:endParaRPr kumimoji="1" lang="ja-JP" altLang="en-US" dirty="0"/>
          </a:p>
        </p:txBody>
      </p:sp>
    </p:spTree>
    <p:extLst>
      <p:ext uri="{BB962C8B-B14F-4D97-AF65-F5344CB8AC3E}">
        <p14:creationId xmlns:p14="http://schemas.microsoft.com/office/powerpoint/2010/main" val="3472873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245752-9231-6699-CD79-DD3CC7B72A67}"/>
              </a:ext>
            </a:extLst>
          </p:cNvPr>
          <p:cNvSpPr>
            <a:spLocks noGrp="1"/>
          </p:cNvSpPr>
          <p:nvPr>
            <p:ph type="title"/>
          </p:nvPr>
        </p:nvSpPr>
        <p:spPr/>
        <p:txBody>
          <a:bodyPr/>
          <a:lstStyle/>
          <a:p>
            <a:r>
              <a:rPr kumimoji="1" lang="ja-JP" altLang="en-US" dirty="0"/>
              <a:t>メールを使った予約日時の確定合意処理について</a:t>
            </a:r>
          </a:p>
        </p:txBody>
      </p:sp>
      <p:sp>
        <p:nvSpPr>
          <p:cNvPr id="3" name="コンテンツ プレースホルダー 2">
            <a:extLst>
              <a:ext uri="{FF2B5EF4-FFF2-40B4-BE49-F238E27FC236}">
                <a16:creationId xmlns:a16="http://schemas.microsoft.com/office/drawing/2014/main" id="{B781AB5F-69C5-62A7-B237-23E08228A758}"/>
              </a:ext>
            </a:extLst>
          </p:cNvPr>
          <p:cNvSpPr>
            <a:spLocks noGrp="1"/>
          </p:cNvSpPr>
          <p:nvPr>
            <p:ph idx="1"/>
          </p:nvPr>
        </p:nvSpPr>
        <p:spPr/>
        <p:txBody>
          <a:bodyPr>
            <a:normAutofit/>
          </a:bodyPr>
          <a:lstStyle/>
          <a:p>
            <a:r>
              <a:rPr kumimoji="1" lang="ja-JP" altLang="en-US" sz="1600" dirty="0"/>
              <a:t>本システムでは、メールを用いて予約日時を患者に伝えますが、メールが読まれるかどうかを判断する仕組みが不可欠です。</a:t>
            </a:r>
            <a:endParaRPr kumimoji="1" lang="en-US" altLang="ja-JP" sz="1600" dirty="0"/>
          </a:p>
          <a:p>
            <a:r>
              <a:rPr kumimoji="1" lang="ja-JP" altLang="en-US" sz="1600" dirty="0">
                <a:solidFill>
                  <a:srgbClr val="FF0000"/>
                </a:solidFill>
              </a:rPr>
              <a:t>そこで、送信メール本文</a:t>
            </a:r>
            <a:r>
              <a:rPr lang="ja-JP" altLang="en-US" sz="1600" dirty="0">
                <a:solidFill>
                  <a:srgbClr val="FF0000"/>
                </a:solidFill>
              </a:rPr>
              <a:t>には予約日時情報の表示を可能にするボタン（</a:t>
            </a:r>
            <a:r>
              <a:rPr lang="en-US" altLang="ja-JP" sz="1600" dirty="0">
                <a:solidFill>
                  <a:srgbClr val="FF0000"/>
                </a:solidFill>
              </a:rPr>
              <a:t>URL)</a:t>
            </a:r>
            <a:r>
              <a:rPr lang="ja-JP" altLang="en-US" sz="1600" dirty="0">
                <a:solidFill>
                  <a:srgbClr val="FF0000"/>
                </a:solidFill>
              </a:rPr>
              <a:t>のみを用意し、患者がメール内のそのボタンを「</a:t>
            </a:r>
            <a:r>
              <a:rPr kumimoji="1" lang="ja-JP" altLang="en-US" sz="1600" dirty="0">
                <a:solidFill>
                  <a:srgbClr val="FF0000"/>
                </a:solidFill>
              </a:rPr>
              <a:t>一定の制限時間内（タイムアウト値）に押したことを本システムが検出した時点で合意成立と判断する仕組みになっています。</a:t>
            </a:r>
            <a:endParaRPr lang="en-US" altLang="ja-JP" sz="1600" dirty="0">
              <a:solidFill>
                <a:srgbClr val="FF0000"/>
              </a:solidFill>
            </a:endParaRPr>
          </a:p>
          <a:p>
            <a:pPr marL="0" indent="0">
              <a:buNone/>
            </a:pPr>
            <a:r>
              <a:rPr lang="ja-JP" altLang="en-US" sz="1600" dirty="0"/>
              <a:t>タイムアウト値は</a:t>
            </a:r>
            <a:r>
              <a:rPr kumimoji="1" lang="ja-JP" altLang="en-US" sz="1600" dirty="0"/>
              <a:t>メールを送信する段階で担当者が選択できます</a:t>
            </a:r>
            <a:r>
              <a:rPr kumimoji="1" lang="en-US" altLang="ja-JP" sz="1600" dirty="0"/>
              <a:t>(</a:t>
            </a:r>
            <a:r>
              <a:rPr kumimoji="1" lang="ja-JP" altLang="en-US" sz="1600" dirty="0"/>
              <a:t>デフォルトは</a:t>
            </a:r>
            <a:r>
              <a:rPr kumimoji="1" lang="en-US" altLang="ja-JP" sz="1600" dirty="0"/>
              <a:t>2</a:t>
            </a:r>
            <a:r>
              <a:rPr kumimoji="1" lang="ja-JP" altLang="en-US" sz="1600" dirty="0"/>
              <a:t>時間</a:t>
            </a:r>
            <a:r>
              <a:rPr kumimoji="1" lang="en-US" altLang="ja-JP" sz="1600" dirty="0"/>
              <a:t>)</a:t>
            </a:r>
          </a:p>
          <a:p>
            <a:pPr marL="0" indent="0">
              <a:buNone/>
            </a:pPr>
            <a:r>
              <a:rPr lang="ja-JP" altLang="en-US" sz="1600" dirty="0"/>
              <a:t>スタッフが帰宅間際の場合には当日の処理は困難なので</a:t>
            </a:r>
            <a:r>
              <a:rPr lang="en-US" altLang="ja-JP" sz="1600" dirty="0"/>
              <a:t>2</a:t>
            </a:r>
            <a:r>
              <a:rPr lang="ja-JP" altLang="en-US" sz="1600" dirty="0"/>
              <a:t>時間ではなく、実質的に明日の診療開始まで影響がないため、本日中まででよいなどといった幅を持たせられるようになっています。退勤時間に近づくにつれ表示される選択肢は減ります。</a:t>
            </a:r>
            <a:endParaRPr lang="en-US" altLang="ja-JP" sz="1600" dirty="0"/>
          </a:p>
          <a:p>
            <a:pPr marL="0" indent="0">
              <a:buNone/>
            </a:pPr>
            <a:r>
              <a:rPr lang="ja-JP" altLang="en-US" sz="1600" dirty="0"/>
              <a:t>タイムアウト値になるまでは「仮の予約日時」という概念となり、その間は電子カルテ側の予約枠もほかにとられないように確保しておく必要があります。</a:t>
            </a:r>
            <a:endParaRPr kumimoji="1" lang="en-US" altLang="ja-JP" sz="1600" dirty="0"/>
          </a:p>
          <a:p>
            <a:pPr marL="0" indent="0">
              <a:buNone/>
            </a:pPr>
            <a:r>
              <a:rPr lang="ja-JP" altLang="en-US" sz="1600" dirty="0"/>
              <a:t>・一方で</a:t>
            </a:r>
            <a:r>
              <a:rPr kumimoji="1" lang="ja-JP" altLang="en-US" sz="1600" dirty="0"/>
              <a:t>タイムアウトになった場合には、患者がメールを読まなかったということなので、</a:t>
            </a:r>
            <a:endParaRPr kumimoji="1" lang="en-US" altLang="ja-JP" sz="1600" dirty="0"/>
          </a:p>
          <a:p>
            <a:pPr marL="0" indent="0">
              <a:buNone/>
            </a:pPr>
            <a:r>
              <a:rPr lang="ja-JP" altLang="en-US" sz="1600" dirty="0"/>
              <a:t>一旦電カルの予約枠は開放したうえで、そのまま放置し患者からの再依頼を待つ、スタッフから電話対応に切り替えて📞での調整に入るなどいくつか対応パターンが考えられます。</a:t>
            </a:r>
            <a:endParaRPr lang="en-US" altLang="ja-JP" sz="1600" dirty="0"/>
          </a:p>
          <a:p>
            <a:pPr marL="0" indent="0">
              <a:buNone/>
            </a:pPr>
            <a:r>
              <a:rPr kumimoji="1" lang="ja-JP" altLang="en-US" sz="1600" dirty="0"/>
              <a:t>・過去の履歴からメールでのやり取りがとりにくい、既読にならない傾向がある患者かもしれません。その場合は、チケット到着後に</a:t>
            </a:r>
            <a:r>
              <a:rPr kumimoji="1" lang="en-US" altLang="ja-JP" sz="1600" dirty="0"/>
              <a:t>CRM</a:t>
            </a:r>
            <a:r>
              <a:rPr kumimoji="1" lang="ja-JP" altLang="en-US" sz="1600" dirty="0"/>
              <a:t>情報を参考に</a:t>
            </a:r>
            <a:r>
              <a:rPr lang="ja-JP" altLang="en-US" sz="1600" dirty="0"/>
              <a:t>📧対応ではなく、</a:t>
            </a:r>
            <a:r>
              <a:rPr kumimoji="1" lang="ja-JP" altLang="en-US" sz="1600" dirty="0"/>
              <a:t>すぐに架電をして会話を始めたほうが繫がりやすい可能性もあるかもしれません。</a:t>
            </a:r>
            <a:endParaRPr kumimoji="1" lang="en-US" altLang="ja-JP" sz="1600" dirty="0"/>
          </a:p>
          <a:p>
            <a:pPr marL="0" indent="0">
              <a:buNone/>
            </a:pPr>
            <a:r>
              <a:rPr lang="ja-JP" altLang="en-US" sz="1600" dirty="0"/>
              <a:t>・なお、患者が意図せずタイムアウトした場合を考慮して、チケットを保留にしたまま、本日中であれば患者側が再依頼の入力手間なく依頼できるようになっています（ただしこの時点では仮予約は開放されていますのでスタッフは再度別の仮予約日を確保してメールを送信します）。</a:t>
            </a:r>
            <a:endParaRPr kumimoji="1" lang="en-US" altLang="ja-JP" sz="1600" dirty="0"/>
          </a:p>
          <a:p>
            <a:pPr marL="0" indent="0">
              <a:buNone/>
            </a:pPr>
            <a:endParaRPr kumimoji="1" lang="en-US" altLang="ja-JP" sz="1600" dirty="0"/>
          </a:p>
          <a:p>
            <a:endParaRPr kumimoji="1" lang="ja-JP" altLang="en-US" sz="1600" dirty="0"/>
          </a:p>
        </p:txBody>
      </p:sp>
    </p:spTree>
    <p:extLst>
      <p:ext uri="{BB962C8B-B14F-4D97-AF65-F5344CB8AC3E}">
        <p14:creationId xmlns:p14="http://schemas.microsoft.com/office/powerpoint/2010/main" val="1175235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515E7A-0D6C-0149-01D2-D25E9EB55622}"/>
              </a:ext>
            </a:extLst>
          </p:cNvPr>
          <p:cNvSpPr>
            <a:spLocks noGrp="1"/>
          </p:cNvSpPr>
          <p:nvPr>
            <p:ph type="title"/>
          </p:nvPr>
        </p:nvSpPr>
        <p:spPr/>
        <p:txBody>
          <a:bodyPr/>
          <a:lstStyle/>
          <a:p>
            <a:r>
              <a:rPr kumimoji="1" lang="ja-JP" altLang="en-US" dirty="0"/>
              <a:t>スタッフ設定</a:t>
            </a:r>
          </a:p>
        </p:txBody>
      </p:sp>
      <p:sp>
        <p:nvSpPr>
          <p:cNvPr id="3" name="コンテンツ プレースホルダー 2">
            <a:extLst>
              <a:ext uri="{FF2B5EF4-FFF2-40B4-BE49-F238E27FC236}">
                <a16:creationId xmlns:a16="http://schemas.microsoft.com/office/drawing/2014/main" id="{4BFA1D67-9FA8-6403-26A9-6E68B224CA0C}"/>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852097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F0823B-340B-4BEC-6EAD-49ADAA54B0C7}"/>
              </a:ext>
            </a:extLst>
          </p:cNvPr>
          <p:cNvSpPr>
            <a:spLocks noGrp="1"/>
          </p:cNvSpPr>
          <p:nvPr>
            <p:ph type="title"/>
          </p:nvPr>
        </p:nvSpPr>
        <p:spPr/>
        <p:txBody>
          <a:bodyPr/>
          <a:lstStyle/>
          <a:p>
            <a:r>
              <a:rPr lang="ja-JP" altLang="en-US" dirty="0"/>
              <a:t>電話対応かメール対応かの判断</a:t>
            </a:r>
            <a:endParaRPr kumimoji="1" lang="ja-JP" altLang="en-US" dirty="0"/>
          </a:p>
        </p:txBody>
      </p:sp>
      <p:sp>
        <p:nvSpPr>
          <p:cNvPr id="11" name="テキスト ボックス 10">
            <a:extLst>
              <a:ext uri="{FF2B5EF4-FFF2-40B4-BE49-F238E27FC236}">
                <a16:creationId xmlns:a16="http://schemas.microsoft.com/office/drawing/2014/main" id="{CC0726C6-952D-31A8-5A65-0DA37F5F2822}"/>
              </a:ext>
            </a:extLst>
          </p:cNvPr>
          <p:cNvSpPr txBox="1"/>
          <p:nvPr/>
        </p:nvSpPr>
        <p:spPr>
          <a:xfrm>
            <a:off x="2353113" y="2487899"/>
            <a:ext cx="646331" cy="369332"/>
          </a:xfrm>
          <a:prstGeom prst="rect">
            <a:avLst/>
          </a:prstGeom>
          <a:noFill/>
        </p:spPr>
        <p:txBody>
          <a:bodyPr wrap="none" rtlCol="0">
            <a:spAutoFit/>
          </a:bodyPr>
          <a:lstStyle/>
          <a:p>
            <a:r>
              <a:rPr kumimoji="1" lang="ja-JP" altLang="en-US" dirty="0"/>
              <a:t>変更</a:t>
            </a:r>
          </a:p>
        </p:txBody>
      </p:sp>
      <p:sp>
        <p:nvSpPr>
          <p:cNvPr id="12" name="テキスト ボックス 11">
            <a:extLst>
              <a:ext uri="{FF2B5EF4-FFF2-40B4-BE49-F238E27FC236}">
                <a16:creationId xmlns:a16="http://schemas.microsoft.com/office/drawing/2014/main" id="{9695A57C-4053-CA34-1DD8-FCEBD2CB5C0C}"/>
              </a:ext>
            </a:extLst>
          </p:cNvPr>
          <p:cNvSpPr txBox="1"/>
          <p:nvPr/>
        </p:nvSpPr>
        <p:spPr>
          <a:xfrm>
            <a:off x="2353113" y="1584549"/>
            <a:ext cx="646331" cy="369332"/>
          </a:xfrm>
          <a:prstGeom prst="rect">
            <a:avLst/>
          </a:prstGeom>
          <a:noFill/>
        </p:spPr>
        <p:txBody>
          <a:bodyPr wrap="none" rtlCol="0">
            <a:spAutoFit/>
          </a:bodyPr>
          <a:lstStyle/>
          <a:p>
            <a:r>
              <a:rPr kumimoji="1" lang="ja-JP" altLang="en-US" dirty="0"/>
              <a:t>取消</a:t>
            </a:r>
          </a:p>
        </p:txBody>
      </p:sp>
      <p:sp>
        <p:nvSpPr>
          <p:cNvPr id="14" name="テキスト ボックス 13">
            <a:extLst>
              <a:ext uri="{FF2B5EF4-FFF2-40B4-BE49-F238E27FC236}">
                <a16:creationId xmlns:a16="http://schemas.microsoft.com/office/drawing/2014/main" id="{652B31E8-C6D4-2CFF-B0FE-3D9E3E192D34}"/>
              </a:ext>
            </a:extLst>
          </p:cNvPr>
          <p:cNvSpPr txBox="1"/>
          <p:nvPr/>
        </p:nvSpPr>
        <p:spPr>
          <a:xfrm>
            <a:off x="2295788" y="3391249"/>
            <a:ext cx="1186543" cy="369332"/>
          </a:xfrm>
          <a:prstGeom prst="rect">
            <a:avLst/>
          </a:prstGeom>
          <a:noFill/>
        </p:spPr>
        <p:txBody>
          <a:bodyPr wrap="none" rtlCol="0">
            <a:spAutoFit/>
          </a:bodyPr>
          <a:lstStyle/>
          <a:p>
            <a:r>
              <a:rPr kumimoji="1" lang="ja-JP" altLang="en-US" dirty="0"/>
              <a:t>初診</a:t>
            </a:r>
            <a:r>
              <a:rPr kumimoji="1" lang="en-US" altLang="ja-JP" dirty="0"/>
              <a:t>/</a:t>
            </a:r>
            <a:r>
              <a:rPr kumimoji="1" lang="ja-JP" altLang="en-US" dirty="0"/>
              <a:t>再診</a:t>
            </a:r>
          </a:p>
        </p:txBody>
      </p:sp>
      <p:sp>
        <p:nvSpPr>
          <p:cNvPr id="20" name="テキスト ボックス 19">
            <a:extLst>
              <a:ext uri="{FF2B5EF4-FFF2-40B4-BE49-F238E27FC236}">
                <a16:creationId xmlns:a16="http://schemas.microsoft.com/office/drawing/2014/main" id="{BA48D793-26ED-563B-690E-1FD784857032}"/>
              </a:ext>
            </a:extLst>
          </p:cNvPr>
          <p:cNvSpPr txBox="1"/>
          <p:nvPr/>
        </p:nvSpPr>
        <p:spPr>
          <a:xfrm>
            <a:off x="3811816" y="2702011"/>
            <a:ext cx="1528893" cy="923330"/>
          </a:xfrm>
          <a:prstGeom prst="rect">
            <a:avLst/>
          </a:prstGeom>
          <a:solidFill>
            <a:schemeClr val="accent1">
              <a:lumMod val="40000"/>
              <a:lumOff val="60000"/>
            </a:schemeClr>
          </a:solidFill>
        </p:spPr>
        <p:txBody>
          <a:bodyPr wrap="square">
            <a:spAutoFit/>
          </a:bodyPr>
          <a:lstStyle/>
          <a:p>
            <a:r>
              <a:rPr kumimoji="1" lang="ja-JP" altLang="en-US" sz="1800" dirty="0"/>
              <a:t>患者</a:t>
            </a:r>
            <a:r>
              <a:rPr kumimoji="1" lang="ja-JP" altLang="en-US" dirty="0"/>
              <a:t>の</a:t>
            </a:r>
            <a:r>
              <a:rPr kumimoji="1" lang="ja-JP" altLang="en-US" sz="1800" dirty="0"/>
              <a:t>希望</a:t>
            </a:r>
            <a:endParaRPr kumimoji="1" lang="en-US" altLang="ja-JP" sz="1800" dirty="0"/>
          </a:p>
          <a:p>
            <a:r>
              <a:rPr kumimoji="1" lang="ja-JP" altLang="en-US" sz="1800" dirty="0"/>
              <a:t>の枠がある？</a:t>
            </a:r>
            <a:endParaRPr lang="ja-JP" altLang="en-US" dirty="0"/>
          </a:p>
        </p:txBody>
      </p:sp>
      <p:sp>
        <p:nvSpPr>
          <p:cNvPr id="22" name="テキスト ボックス 21">
            <a:extLst>
              <a:ext uri="{FF2B5EF4-FFF2-40B4-BE49-F238E27FC236}">
                <a16:creationId xmlns:a16="http://schemas.microsoft.com/office/drawing/2014/main" id="{F52AFEE7-642D-834D-DA07-91BB594EDF71}"/>
              </a:ext>
            </a:extLst>
          </p:cNvPr>
          <p:cNvSpPr txBox="1"/>
          <p:nvPr/>
        </p:nvSpPr>
        <p:spPr>
          <a:xfrm>
            <a:off x="154379" y="2469475"/>
            <a:ext cx="1196249" cy="369332"/>
          </a:xfrm>
          <a:prstGeom prst="rect">
            <a:avLst/>
          </a:prstGeom>
          <a:solidFill>
            <a:schemeClr val="accent1">
              <a:lumMod val="40000"/>
              <a:lumOff val="60000"/>
            </a:schemeClr>
          </a:solidFill>
        </p:spPr>
        <p:txBody>
          <a:bodyPr wrap="square">
            <a:spAutoFit/>
          </a:bodyPr>
          <a:lstStyle/>
          <a:p>
            <a:r>
              <a:rPr lang="ja-JP" altLang="en-US" dirty="0"/>
              <a:t>用件は？</a:t>
            </a:r>
          </a:p>
        </p:txBody>
      </p:sp>
      <p:cxnSp>
        <p:nvCxnSpPr>
          <p:cNvPr id="24" name="直線矢印コネクタ 23">
            <a:extLst>
              <a:ext uri="{FF2B5EF4-FFF2-40B4-BE49-F238E27FC236}">
                <a16:creationId xmlns:a16="http://schemas.microsoft.com/office/drawing/2014/main" id="{179EBA65-AD14-039C-2B73-783BFD4F4DB0}"/>
              </a:ext>
            </a:extLst>
          </p:cNvPr>
          <p:cNvCxnSpPr>
            <a:stCxn id="22" idx="3"/>
            <a:endCxn id="11" idx="1"/>
          </p:cNvCxnSpPr>
          <p:nvPr/>
        </p:nvCxnSpPr>
        <p:spPr>
          <a:xfrm>
            <a:off x="1350628" y="2654141"/>
            <a:ext cx="1002485" cy="184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10FA7B81-859B-630F-05B7-041E98E26FEF}"/>
              </a:ext>
            </a:extLst>
          </p:cNvPr>
          <p:cNvCxnSpPr>
            <a:cxnSpLocks/>
            <a:stCxn id="22" idx="3"/>
            <a:endCxn id="12" idx="1"/>
          </p:cNvCxnSpPr>
          <p:nvPr/>
        </p:nvCxnSpPr>
        <p:spPr>
          <a:xfrm flipV="1">
            <a:off x="1350628" y="1769215"/>
            <a:ext cx="1002485" cy="8849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直線矢印コネクタ 27">
            <a:extLst>
              <a:ext uri="{FF2B5EF4-FFF2-40B4-BE49-F238E27FC236}">
                <a16:creationId xmlns:a16="http://schemas.microsoft.com/office/drawing/2014/main" id="{7FBA3AF5-08C9-7188-3801-8B313DAAAD25}"/>
              </a:ext>
            </a:extLst>
          </p:cNvPr>
          <p:cNvCxnSpPr>
            <a:cxnSpLocks/>
            <a:stCxn id="22" idx="3"/>
            <a:endCxn id="14" idx="1"/>
          </p:cNvCxnSpPr>
          <p:nvPr/>
        </p:nvCxnSpPr>
        <p:spPr>
          <a:xfrm>
            <a:off x="1350628" y="2654141"/>
            <a:ext cx="945160" cy="9217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直線矢印コネクタ 30">
            <a:extLst>
              <a:ext uri="{FF2B5EF4-FFF2-40B4-BE49-F238E27FC236}">
                <a16:creationId xmlns:a16="http://schemas.microsoft.com/office/drawing/2014/main" id="{B86E6C5E-9A98-CB5D-B6FF-AA53A6881AD1}"/>
              </a:ext>
            </a:extLst>
          </p:cNvPr>
          <p:cNvCxnSpPr>
            <a:cxnSpLocks/>
            <a:stCxn id="11" idx="3"/>
            <a:endCxn id="20" idx="1"/>
          </p:cNvCxnSpPr>
          <p:nvPr/>
        </p:nvCxnSpPr>
        <p:spPr>
          <a:xfrm>
            <a:off x="2999444" y="2672565"/>
            <a:ext cx="812372" cy="4911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直線矢印コネクタ 33">
            <a:extLst>
              <a:ext uri="{FF2B5EF4-FFF2-40B4-BE49-F238E27FC236}">
                <a16:creationId xmlns:a16="http://schemas.microsoft.com/office/drawing/2014/main" id="{4F022EF2-A1E8-0091-79BA-BD949773740F}"/>
              </a:ext>
            </a:extLst>
          </p:cNvPr>
          <p:cNvCxnSpPr>
            <a:cxnSpLocks/>
            <a:stCxn id="14" idx="3"/>
            <a:endCxn id="20" idx="1"/>
          </p:cNvCxnSpPr>
          <p:nvPr/>
        </p:nvCxnSpPr>
        <p:spPr>
          <a:xfrm flipV="1">
            <a:off x="3482331" y="3163676"/>
            <a:ext cx="329485" cy="4122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A09A2D27-8D60-3926-AD49-C4ED631CD2B9}"/>
              </a:ext>
            </a:extLst>
          </p:cNvPr>
          <p:cNvSpPr txBox="1"/>
          <p:nvPr/>
        </p:nvSpPr>
        <p:spPr>
          <a:xfrm>
            <a:off x="7701791" y="3369795"/>
            <a:ext cx="1528893" cy="646331"/>
          </a:xfrm>
          <a:prstGeom prst="rect">
            <a:avLst/>
          </a:prstGeom>
          <a:solidFill>
            <a:schemeClr val="accent1">
              <a:lumMod val="40000"/>
              <a:lumOff val="60000"/>
            </a:schemeClr>
          </a:solidFill>
        </p:spPr>
        <p:txBody>
          <a:bodyPr wrap="square">
            <a:spAutoFit/>
          </a:bodyPr>
          <a:lstStyle/>
          <a:p>
            <a:r>
              <a:rPr kumimoji="1" lang="ja-JP" altLang="en-US" sz="1200" dirty="0"/>
              <a:t>過去依頼歴から</a:t>
            </a:r>
            <a:r>
              <a:rPr lang="ja-JP" altLang="en-US" sz="1200" dirty="0"/>
              <a:t>メールで混乱する可能性が低い？</a:t>
            </a:r>
            <a:endParaRPr lang="en-US" altLang="ja-JP" sz="1200" dirty="0"/>
          </a:p>
        </p:txBody>
      </p:sp>
      <p:cxnSp>
        <p:nvCxnSpPr>
          <p:cNvPr id="43" name="直線矢印コネクタ 42">
            <a:extLst>
              <a:ext uri="{FF2B5EF4-FFF2-40B4-BE49-F238E27FC236}">
                <a16:creationId xmlns:a16="http://schemas.microsoft.com/office/drawing/2014/main" id="{94184DBC-CAC5-B8F0-5C98-5401C02DBBD7}"/>
              </a:ext>
            </a:extLst>
          </p:cNvPr>
          <p:cNvCxnSpPr>
            <a:cxnSpLocks/>
            <a:stCxn id="20" idx="3"/>
            <a:endCxn id="49" idx="1"/>
          </p:cNvCxnSpPr>
          <p:nvPr/>
        </p:nvCxnSpPr>
        <p:spPr>
          <a:xfrm flipV="1">
            <a:off x="5340709" y="3160417"/>
            <a:ext cx="501844" cy="32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テキスト ボックス 48">
            <a:extLst>
              <a:ext uri="{FF2B5EF4-FFF2-40B4-BE49-F238E27FC236}">
                <a16:creationId xmlns:a16="http://schemas.microsoft.com/office/drawing/2014/main" id="{85B9762D-A413-56FB-F02B-98A18AC6FC9A}"/>
              </a:ext>
            </a:extLst>
          </p:cNvPr>
          <p:cNvSpPr txBox="1"/>
          <p:nvPr/>
        </p:nvSpPr>
        <p:spPr>
          <a:xfrm>
            <a:off x="5842553" y="2837251"/>
            <a:ext cx="1528893" cy="646331"/>
          </a:xfrm>
          <a:prstGeom prst="rect">
            <a:avLst/>
          </a:prstGeom>
          <a:solidFill>
            <a:schemeClr val="accent1">
              <a:lumMod val="40000"/>
              <a:lumOff val="60000"/>
            </a:schemeClr>
          </a:solidFill>
        </p:spPr>
        <p:txBody>
          <a:bodyPr wrap="square">
            <a:spAutoFit/>
          </a:bodyPr>
          <a:lstStyle/>
          <a:p>
            <a:r>
              <a:rPr lang="ja-JP" altLang="en-US" dirty="0"/>
              <a:t>初めての依頼である</a:t>
            </a:r>
            <a:endParaRPr lang="en-US" altLang="ja-JP" dirty="0"/>
          </a:p>
        </p:txBody>
      </p:sp>
      <p:cxnSp>
        <p:nvCxnSpPr>
          <p:cNvPr id="53" name="直線矢印コネクタ 52">
            <a:extLst>
              <a:ext uri="{FF2B5EF4-FFF2-40B4-BE49-F238E27FC236}">
                <a16:creationId xmlns:a16="http://schemas.microsoft.com/office/drawing/2014/main" id="{41C6F2A0-32E0-C61C-7E67-DEC0D32E94D4}"/>
              </a:ext>
            </a:extLst>
          </p:cNvPr>
          <p:cNvCxnSpPr>
            <a:cxnSpLocks/>
            <a:stCxn id="20" idx="2"/>
          </p:cNvCxnSpPr>
          <p:nvPr/>
        </p:nvCxnSpPr>
        <p:spPr>
          <a:xfrm flipH="1">
            <a:off x="4576262" y="3625341"/>
            <a:ext cx="1" cy="4860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テキスト ボックス 54">
            <a:extLst>
              <a:ext uri="{FF2B5EF4-FFF2-40B4-BE49-F238E27FC236}">
                <a16:creationId xmlns:a16="http://schemas.microsoft.com/office/drawing/2014/main" id="{41C89F39-CE5F-C988-6FF8-F37BBD26BEE5}"/>
              </a:ext>
            </a:extLst>
          </p:cNvPr>
          <p:cNvSpPr txBox="1"/>
          <p:nvPr/>
        </p:nvSpPr>
        <p:spPr>
          <a:xfrm>
            <a:off x="4732522" y="3793576"/>
            <a:ext cx="348172" cy="369332"/>
          </a:xfrm>
          <a:prstGeom prst="rect">
            <a:avLst/>
          </a:prstGeom>
          <a:noFill/>
        </p:spPr>
        <p:txBody>
          <a:bodyPr wrap="none" rtlCol="0">
            <a:spAutoFit/>
          </a:bodyPr>
          <a:lstStyle/>
          <a:p>
            <a:r>
              <a:rPr kumimoji="1" lang="en-US" altLang="ja-JP" dirty="0"/>
              <a:t>N</a:t>
            </a:r>
            <a:endParaRPr kumimoji="1" lang="ja-JP" altLang="en-US" dirty="0"/>
          </a:p>
        </p:txBody>
      </p:sp>
      <p:sp>
        <p:nvSpPr>
          <p:cNvPr id="57" name="テキスト ボックス 56">
            <a:extLst>
              <a:ext uri="{FF2B5EF4-FFF2-40B4-BE49-F238E27FC236}">
                <a16:creationId xmlns:a16="http://schemas.microsoft.com/office/drawing/2014/main" id="{AC9907DF-9A23-8B40-2741-57DF50038FDF}"/>
              </a:ext>
            </a:extLst>
          </p:cNvPr>
          <p:cNvSpPr txBox="1"/>
          <p:nvPr/>
        </p:nvSpPr>
        <p:spPr>
          <a:xfrm>
            <a:off x="5340655" y="2863327"/>
            <a:ext cx="309700" cy="369332"/>
          </a:xfrm>
          <a:prstGeom prst="rect">
            <a:avLst/>
          </a:prstGeom>
          <a:noFill/>
        </p:spPr>
        <p:txBody>
          <a:bodyPr wrap="none" rtlCol="0">
            <a:spAutoFit/>
          </a:bodyPr>
          <a:lstStyle/>
          <a:p>
            <a:r>
              <a:rPr kumimoji="1" lang="en-US" altLang="ja-JP" dirty="0"/>
              <a:t>Y</a:t>
            </a:r>
            <a:endParaRPr kumimoji="1" lang="ja-JP" altLang="en-US" dirty="0"/>
          </a:p>
        </p:txBody>
      </p:sp>
      <p:cxnSp>
        <p:nvCxnSpPr>
          <p:cNvPr id="58" name="直線矢印コネクタ 57">
            <a:extLst>
              <a:ext uri="{FF2B5EF4-FFF2-40B4-BE49-F238E27FC236}">
                <a16:creationId xmlns:a16="http://schemas.microsoft.com/office/drawing/2014/main" id="{88807686-2F0E-1CAB-7890-51BDF43D9BC3}"/>
              </a:ext>
            </a:extLst>
          </p:cNvPr>
          <p:cNvCxnSpPr>
            <a:cxnSpLocks/>
            <a:stCxn id="49" idx="3"/>
            <a:endCxn id="40" idx="1"/>
          </p:cNvCxnSpPr>
          <p:nvPr/>
        </p:nvCxnSpPr>
        <p:spPr>
          <a:xfrm>
            <a:off x="7371446" y="3160417"/>
            <a:ext cx="330345" cy="5325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テキスト ボックス 61">
            <a:extLst>
              <a:ext uri="{FF2B5EF4-FFF2-40B4-BE49-F238E27FC236}">
                <a16:creationId xmlns:a16="http://schemas.microsoft.com/office/drawing/2014/main" id="{CE31C744-EA4F-635D-D05A-5DFD2501972B}"/>
              </a:ext>
            </a:extLst>
          </p:cNvPr>
          <p:cNvSpPr txBox="1"/>
          <p:nvPr/>
        </p:nvSpPr>
        <p:spPr>
          <a:xfrm>
            <a:off x="7473755" y="2372678"/>
            <a:ext cx="309700" cy="369332"/>
          </a:xfrm>
          <a:prstGeom prst="rect">
            <a:avLst/>
          </a:prstGeom>
          <a:noFill/>
        </p:spPr>
        <p:txBody>
          <a:bodyPr wrap="none" rtlCol="0">
            <a:spAutoFit/>
          </a:bodyPr>
          <a:lstStyle/>
          <a:p>
            <a:r>
              <a:rPr kumimoji="1" lang="en-US" altLang="ja-JP" dirty="0"/>
              <a:t>Y</a:t>
            </a:r>
            <a:endParaRPr kumimoji="1" lang="ja-JP" altLang="en-US" dirty="0"/>
          </a:p>
        </p:txBody>
      </p:sp>
      <p:cxnSp>
        <p:nvCxnSpPr>
          <p:cNvPr id="63" name="直線矢印コネクタ 62">
            <a:extLst>
              <a:ext uri="{FF2B5EF4-FFF2-40B4-BE49-F238E27FC236}">
                <a16:creationId xmlns:a16="http://schemas.microsoft.com/office/drawing/2014/main" id="{66199499-40A9-E187-2881-6FE92E115DAA}"/>
              </a:ext>
            </a:extLst>
          </p:cNvPr>
          <p:cNvCxnSpPr>
            <a:cxnSpLocks/>
            <a:stCxn id="49" idx="3"/>
          </p:cNvCxnSpPr>
          <p:nvPr/>
        </p:nvCxnSpPr>
        <p:spPr>
          <a:xfrm flipV="1">
            <a:off x="7371446" y="2211678"/>
            <a:ext cx="687415" cy="9487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6" name="テキスト ボックス 65">
            <a:extLst>
              <a:ext uri="{FF2B5EF4-FFF2-40B4-BE49-F238E27FC236}">
                <a16:creationId xmlns:a16="http://schemas.microsoft.com/office/drawing/2014/main" id="{F8F32631-A84E-F409-9A0D-2B664DB59D90}"/>
              </a:ext>
            </a:extLst>
          </p:cNvPr>
          <p:cNvSpPr txBox="1"/>
          <p:nvPr/>
        </p:nvSpPr>
        <p:spPr>
          <a:xfrm>
            <a:off x="7256174" y="3508294"/>
            <a:ext cx="348172" cy="369332"/>
          </a:xfrm>
          <a:prstGeom prst="rect">
            <a:avLst/>
          </a:prstGeom>
          <a:noFill/>
        </p:spPr>
        <p:txBody>
          <a:bodyPr wrap="none" rtlCol="0">
            <a:spAutoFit/>
          </a:bodyPr>
          <a:lstStyle/>
          <a:p>
            <a:r>
              <a:rPr kumimoji="1" lang="en-US" altLang="ja-JP" dirty="0"/>
              <a:t>N</a:t>
            </a:r>
            <a:endParaRPr kumimoji="1" lang="ja-JP" altLang="en-US" dirty="0"/>
          </a:p>
        </p:txBody>
      </p:sp>
      <p:cxnSp>
        <p:nvCxnSpPr>
          <p:cNvPr id="67" name="直線矢印コネクタ 66">
            <a:extLst>
              <a:ext uri="{FF2B5EF4-FFF2-40B4-BE49-F238E27FC236}">
                <a16:creationId xmlns:a16="http://schemas.microsoft.com/office/drawing/2014/main" id="{BAB400B5-653D-A06C-44BB-49FC1BCB9821}"/>
              </a:ext>
            </a:extLst>
          </p:cNvPr>
          <p:cNvCxnSpPr>
            <a:cxnSpLocks/>
            <a:stCxn id="40" idx="0"/>
          </p:cNvCxnSpPr>
          <p:nvPr/>
        </p:nvCxnSpPr>
        <p:spPr>
          <a:xfrm flipV="1">
            <a:off x="8466238" y="2635863"/>
            <a:ext cx="413509" cy="7339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テキスト ボックス 69">
            <a:extLst>
              <a:ext uri="{FF2B5EF4-FFF2-40B4-BE49-F238E27FC236}">
                <a16:creationId xmlns:a16="http://schemas.microsoft.com/office/drawing/2014/main" id="{D8CD0004-652F-1096-B944-AB571591BB51}"/>
              </a:ext>
            </a:extLst>
          </p:cNvPr>
          <p:cNvSpPr txBox="1"/>
          <p:nvPr/>
        </p:nvSpPr>
        <p:spPr>
          <a:xfrm>
            <a:off x="8128144" y="2901474"/>
            <a:ext cx="309700" cy="369332"/>
          </a:xfrm>
          <a:prstGeom prst="rect">
            <a:avLst/>
          </a:prstGeom>
          <a:noFill/>
        </p:spPr>
        <p:txBody>
          <a:bodyPr wrap="none" rtlCol="0">
            <a:spAutoFit/>
          </a:bodyPr>
          <a:lstStyle/>
          <a:p>
            <a:r>
              <a:rPr kumimoji="1" lang="en-US" altLang="ja-JP" dirty="0"/>
              <a:t>Y</a:t>
            </a:r>
            <a:endParaRPr kumimoji="1" lang="ja-JP" altLang="en-US" dirty="0"/>
          </a:p>
        </p:txBody>
      </p:sp>
      <p:sp>
        <p:nvSpPr>
          <p:cNvPr id="71" name="テキスト ボックス 70">
            <a:extLst>
              <a:ext uri="{FF2B5EF4-FFF2-40B4-BE49-F238E27FC236}">
                <a16:creationId xmlns:a16="http://schemas.microsoft.com/office/drawing/2014/main" id="{E960890D-F4A0-A3E6-CFB2-0DEC79D28341}"/>
              </a:ext>
            </a:extLst>
          </p:cNvPr>
          <p:cNvSpPr txBox="1"/>
          <p:nvPr/>
        </p:nvSpPr>
        <p:spPr>
          <a:xfrm>
            <a:off x="6259075" y="1384494"/>
            <a:ext cx="1062064" cy="769441"/>
          </a:xfrm>
          <a:prstGeom prst="rect">
            <a:avLst/>
          </a:prstGeom>
          <a:noFill/>
        </p:spPr>
        <p:txBody>
          <a:bodyPr wrap="square" rtlCol="0">
            <a:spAutoFit/>
          </a:bodyPr>
          <a:lstStyle/>
          <a:p>
            <a:r>
              <a:rPr kumimoji="1" lang="ja-JP" altLang="en-US" sz="4400" dirty="0"/>
              <a:t>📧</a:t>
            </a:r>
          </a:p>
        </p:txBody>
      </p:sp>
      <p:sp>
        <p:nvSpPr>
          <p:cNvPr id="73" name="テキスト ボックス 72">
            <a:extLst>
              <a:ext uri="{FF2B5EF4-FFF2-40B4-BE49-F238E27FC236}">
                <a16:creationId xmlns:a16="http://schemas.microsoft.com/office/drawing/2014/main" id="{0E71D1C2-7460-4478-7B84-2C5C0725F788}"/>
              </a:ext>
            </a:extLst>
          </p:cNvPr>
          <p:cNvSpPr txBox="1"/>
          <p:nvPr/>
        </p:nvSpPr>
        <p:spPr>
          <a:xfrm>
            <a:off x="8091776" y="4992276"/>
            <a:ext cx="748923" cy="584775"/>
          </a:xfrm>
          <a:prstGeom prst="rect">
            <a:avLst/>
          </a:prstGeom>
          <a:noFill/>
        </p:spPr>
        <p:txBody>
          <a:bodyPr wrap="square" rtlCol="0">
            <a:spAutoFit/>
          </a:bodyPr>
          <a:lstStyle/>
          <a:p>
            <a:r>
              <a:rPr kumimoji="1" lang="ja-JP" altLang="en-US" sz="3200" dirty="0"/>
              <a:t>📞</a:t>
            </a:r>
          </a:p>
        </p:txBody>
      </p:sp>
      <p:sp>
        <p:nvSpPr>
          <p:cNvPr id="76" name="テキスト ボックス 75">
            <a:extLst>
              <a:ext uri="{FF2B5EF4-FFF2-40B4-BE49-F238E27FC236}">
                <a16:creationId xmlns:a16="http://schemas.microsoft.com/office/drawing/2014/main" id="{BC0906DE-2844-874F-204B-EB57D4E03E86}"/>
              </a:ext>
            </a:extLst>
          </p:cNvPr>
          <p:cNvSpPr txBox="1"/>
          <p:nvPr/>
        </p:nvSpPr>
        <p:spPr>
          <a:xfrm>
            <a:off x="8051614" y="4079773"/>
            <a:ext cx="348172" cy="369332"/>
          </a:xfrm>
          <a:prstGeom prst="rect">
            <a:avLst/>
          </a:prstGeom>
          <a:noFill/>
        </p:spPr>
        <p:txBody>
          <a:bodyPr wrap="none" rtlCol="0">
            <a:spAutoFit/>
          </a:bodyPr>
          <a:lstStyle/>
          <a:p>
            <a:r>
              <a:rPr kumimoji="1" lang="en-US" altLang="ja-JP" dirty="0"/>
              <a:t>N</a:t>
            </a:r>
            <a:endParaRPr kumimoji="1" lang="ja-JP" altLang="en-US" dirty="0"/>
          </a:p>
        </p:txBody>
      </p:sp>
      <p:cxnSp>
        <p:nvCxnSpPr>
          <p:cNvPr id="81" name="直線矢印コネクタ 80">
            <a:extLst>
              <a:ext uri="{FF2B5EF4-FFF2-40B4-BE49-F238E27FC236}">
                <a16:creationId xmlns:a16="http://schemas.microsoft.com/office/drawing/2014/main" id="{E5EF4773-C075-347C-E161-A336DD9D9478}"/>
              </a:ext>
            </a:extLst>
          </p:cNvPr>
          <p:cNvCxnSpPr>
            <a:cxnSpLocks/>
            <a:stCxn id="40" idx="2"/>
            <a:endCxn id="73" idx="0"/>
          </p:cNvCxnSpPr>
          <p:nvPr/>
        </p:nvCxnSpPr>
        <p:spPr>
          <a:xfrm>
            <a:off x="8466238" y="4016126"/>
            <a:ext cx="0" cy="9761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5" name="直線矢印コネクタ 94">
            <a:extLst>
              <a:ext uri="{FF2B5EF4-FFF2-40B4-BE49-F238E27FC236}">
                <a16:creationId xmlns:a16="http://schemas.microsoft.com/office/drawing/2014/main" id="{C9A61126-7842-DBB8-4C89-A97A1F9EEF4D}"/>
              </a:ext>
            </a:extLst>
          </p:cNvPr>
          <p:cNvCxnSpPr>
            <a:cxnSpLocks/>
            <a:stCxn id="12" idx="3"/>
            <a:endCxn id="71" idx="1"/>
          </p:cNvCxnSpPr>
          <p:nvPr/>
        </p:nvCxnSpPr>
        <p:spPr>
          <a:xfrm>
            <a:off x="2999444" y="1769215"/>
            <a:ext cx="32596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6" name="テキスト ボックス 105">
            <a:extLst>
              <a:ext uri="{FF2B5EF4-FFF2-40B4-BE49-F238E27FC236}">
                <a16:creationId xmlns:a16="http://schemas.microsoft.com/office/drawing/2014/main" id="{CF1C7091-3DAC-3C0E-C982-99070C3AE632}"/>
              </a:ext>
            </a:extLst>
          </p:cNvPr>
          <p:cNvSpPr txBox="1"/>
          <p:nvPr/>
        </p:nvSpPr>
        <p:spPr>
          <a:xfrm>
            <a:off x="4271452" y="1490884"/>
            <a:ext cx="1528893" cy="461665"/>
          </a:xfrm>
          <a:prstGeom prst="rect">
            <a:avLst/>
          </a:prstGeom>
          <a:solidFill>
            <a:schemeClr val="accent1">
              <a:lumMod val="40000"/>
              <a:lumOff val="60000"/>
            </a:schemeClr>
          </a:solidFill>
        </p:spPr>
        <p:txBody>
          <a:bodyPr wrap="square">
            <a:spAutoFit/>
          </a:bodyPr>
          <a:lstStyle/>
          <a:p>
            <a:r>
              <a:rPr lang="ja-JP" altLang="en-US" sz="1200" dirty="0"/>
              <a:t>入力された取消</a:t>
            </a:r>
            <a:endParaRPr lang="en-US" altLang="ja-JP" sz="1200" dirty="0"/>
          </a:p>
          <a:p>
            <a:r>
              <a:rPr lang="ja-JP" altLang="en-US" sz="1200" dirty="0"/>
              <a:t>情報に矛盾がある</a:t>
            </a:r>
            <a:endParaRPr lang="en-US" altLang="ja-JP" sz="1200" dirty="0"/>
          </a:p>
        </p:txBody>
      </p:sp>
      <p:sp>
        <p:nvSpPr>
          <p:cNvPr id="108" name="テキスト ボックス 107">
            <a:extLst>
              <a:ext uri="{FF2B5EF4-FFF2-40B4-BE49-F238E27FC236}">
                <a16:creationId xmlns:a16="http://schemas.microsoft.com/office/drawing/2014/main" id="{BED02D2C-64E0-D7B4-17A2-5DB87DE80F8A}"/>
              </a:ext>
            </a:extLst>
          </p:cNvPr>
          <p:cNvSpPr txBox="1"/>
          <p:nvPr/>
        </p:nvSpPr>
        <p:spPr>
          <a:xfrm>
            <a:off x="5161046" y="972537"/>
            <a:ext cx="309700" cy="369332"/>
          </a:xfrm>
          <a:prstGeom prst="rect">
            <a:avLst/>
          </a:prstGeom>
          <a:noFill/>
        </p:spPr>
        <p:txBody>
          <a:bodyPr wrap="none" rtlCol="0">
            <a:spAutoFit/>
          </a:bodyPr>
          <a:lstStyle/>
          <a:p>
            <a:r>
              <a:rPr kumimoji="1" lang="en-US" altLang="ja-JP" dirty="0"/>
              <a:t>Y</a:t>
            </a:r>
            <a:endParaRPr kumimoji="1" lang="ja-JP" altLang="en-US" dirty="0"/>
          </a:p>
        </p:txBody>
      </p:sp>
      <p:cxnSp>
        <p:nvCxnSpPr>
          <p:cNvPr id="110" name="直線矢印コネクタ 109">
            <a:extLst>
              <a:ext uri="{FF2B5EF4-FFF2-40B4-BE49-F238E27FC236}">
                <a16:creationId xmlns:a16="http://schemas.microsoft.com/office/drawing/2014/main" id="{D5F07326-BA71-17A9-65D3-EED66C8EA57F}"/>
              </a:ext>
            </a:extLst>
          </p:cNvPr>
          <p:cNvCxnSpPr>
            <a:cxnSpLocks/>
          </p:cNvCxnSpPr>
          <p:nvPr/>
        </p:nvCxnSpPr>
        <p:spPr>
          <a:xfrm flipV="1">
            <a:off x="5089365" y="931178"/>
            <a:ext cx="0" cy="5001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6" name="テキスト ボックス 115">
            <a:extLst>
              <a:ext uri="{FF2B5EF4-FFF2-40B4-BE49-F238E27FC236}">
                <a16:creationId xmlns:a16="http://schemas.microsoft.com/office/drawing/2014/main" id="{646AEC13-1B29-3EB7-D85D-C1E9600AE61A}"/>
              </a:ext>
            </a:extLst>
          </p:cNvPr>
          <p:cNvSpPr txBox="1"/>
          <p:nvPr/>
        </p:nvSpPr>
        <p:spPr>
          <a:xfrm>
            <a:off x="4706232" y="346403"/>
            <a:ext cx="748923" cy="584775"/>
          </a:xfrm>
          <a:prstGeom prst="rect">
            <a:avLst/>
          </a:prstGeom>
          <a:noFill/>
        </p:spPr>
        <p:txBody>
          <a:bodyPr wrap="square" rtlCol="0">
            <a:spAutoFit/>
          </a:bodyPr>
          <a:lstStyle/>
          <a:p>
            <a:r>
              <a:rPr kumimoji="1" lang="ja-JP" altLang="en-US" sz="3200" dirty="0"/>
              <a:t>📞</a:t>
            </a:r>
          </a:p>
        </p:txBody>
      </p:sp>
      <p:sp>
        <p:nvSpPr>
          <p:cNvPr id="118" name="テキスト ボックス 117">
            <a:extLst>
              <a:ext uri="{FF2B5EF4-FFF2-40B4-BE49-F238E27FC236}">
                <a16:creationId xmlns:a16="http://schemas.microsoft.com/office/drawing/2014/main" id="{458F5EE7-2454-1B39-C998-440B834ED373}"/>
              </a:ext>
            </a:extLst>
          </p:cNvPr>
          <p:cNvSpPr txBox="1"/>
          <p:nvPr/>
        </p:nvSpPr>
        <p:spPr>
          <a:xfrm>
            <a:off x="5809119" y="1450716"/>
            <a:ext cx="348172" cy="369332"/>
          </a:xfrm>
          <a:prstGeom prst="rect">
            <a:avLst/>
          </a:prstGeom>
          <a:noFill/>
        </p:spPr>
        <p:txBody>
          <a:bodyPr wrap="none" rtlCol="0">
            <a:spAutoFit/>
          </a:bodyPr>
          <a:lstStyle/>
          <a:p>
            <a:r>
              <a:rPr kumimoji="1" lang="en-US" altLang="ja-JP" dirty="0"/>
              <a:t>N</a:t>
            </a:r>
            <a:endParaRPr kumimoji="1" lang="ja-JP" altLang="en-US" dirty="0"/>
          </a:p>
        </p:txBody>
      </p:sp>
      <p:sp>
        <p:nvSpPr>
          <p:cNvPr id="123" name="テキスト ボックス 122">
            <a:extLst>
              <a:ext uri="{FF2B5EF4-FFF2-40B4-BE49-F238E27FC236}">
                <a16:creationId xmlns:a16="http://schemas.microsoft.com/office/drawing/2014/main" id="{81851C28-2AE0-CF60-BC8C-0F57A1E1F413}"/>
              </a:ext>
            </a:extLst>
          </p:cNvPr>
          <p:cNvSpPr txBox="1"/>
          <p:nvPr/>
        </p:nvSpPr>
        <p:spPr>
          <a:xfrm>
            <a:off x="4271452" y="4162908"/>
            <a:ext cx="748923" cy="584775"/>
          </a:xfrm>
          <a:prstGeom prst="rect">
            <a:avLst/>
          </a:prstGeom>
          <a:noFill/>
        </p:spPr>
        <p:txBody>
          <a:bodyPr wrap="square" rtlCol="0">
            <a:spAutoFit/>
          </a:bodyPr>
          <a:lstStyle/>
          <a:p>
            <a:r>
              <a:rPr kumimoji="1" lang="ja-JP" altLang="en-US" sz="3200" dirty="0"/>
              <a:t>📞</a:t>
            </a:r>
          </a:p>
        </p:txBody>
      </p:sp>
      <p:sp>
        <p:nvSpPr>
          <p:cNvPr id="131" name="テキスト ボックス 130">
            <a:extLst>
              <a:ext uri="{FF2B5EF4-FFF2-40B4-BE49-F238E27FC236}">
                <a16:creationId xmlns:a16="http://schemas.microsoft.com/office/drawing/2014/main" id="{2C483383-0962-305B-11D4-84A1FC9F896F}"/>
              </a:ext>
            </a:extLst>
          </p:cNvPr>
          <p:cNvSpPr txBox="1"/>
          <p:nvPr/>
        </p:nvSpPr>
        <p:spPr>
          <a:xfrm>
            <a:off x="7672418" y="1594836"/>
            <a:ext cx="1062064" cy="769441"/>
          </a:xfrm>
          <a:prstGeom prst="rect">
            <a:avLst/>
          </a:prstGeom>
          <a:noFill/>
        </p:spPr>
        <p:txBody>
          <a:bodyPr wrap="square" rtlCol="0">
            <a:spAutoFit/>
          </a:bodyPr>
          <a:lstStyle/>
          <a:p>
            <a:r>
              <a:rPr kumimoji="1" lang="ja-JP" altLang="en-US" sz="4400" dirty="0"/>
              <a:t>📧</a:t>
            </a:r>
          </a:p>
        </p:txBody>
      </p:sp>
      <p:sp>
        <p:nvSpPr>
          <p:cNvPr id="133" name="テキスト ボックス 132">
            <a:extLst>
              <a:ext uri="{FF2B5EF4-FFF2-40B4-BE49-F238E27FC236}">
                <a16:creationId xmlns:a16="http://schemas.microsoft.com/office/drawing/2014/main" id="{A924BB09-742E-FC5D-1F1A-7150CA9E9163}"/>
              </a:ext>
            </a:extLst>
          </p:cNvPr>
          <p:cNvSpPr txBox="1"/>
          <p:nvPr/>
        </p:nvSpPr>
        <p:spPr>
          <a:xfrm>
            <a:off x="8504422" y="1903124"/>
            <a:ext cx="1062064" cy="769441"/>
          </a:xfrm>
          <a:prstGeom prst="rect">
            <a:avLst/>
          </a:prstGeom>
          <a:noFill/>
        </p:spPr>
        <p:txBody>
          <a:bodyPr wrap="square" rtlCol="0">
            <a:spAutoFit/>
          </a:bodyPr>
          <a:lstStyle/>
          <a:p>
            <a:r>
              <a:rPr kumimoji="1" lang="ja-JP" altLang="en-US" sz="4400" dirty="0"/>
              <a:t>📧</a:t>
            </a:r>
          </a:p>
        </p:txBody>
      </p:sp>
    </p:spTree>
    <p:extLst>
      <p:ext uri="{BB962C8B-B14F-4D97-AF65-F5344CB8AC3E}">
        <p14:creationId xmlns:p14="http://schemas.microsoft.com/office/powerpoint/2010/main" val="1792137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C2226F-4205-B91D-E62A-350BB1796C3A}"/>
              </a:ext>
            </a:extLst>
          </p:cNvPr>
          <p:cNvSpPr>
            <a:spLocks noGrp="1"/>
          </p:cNvSpPr>
          <p:nvPr>
            <p:ph type="title"/>
          </p:nvPr>
        </p:nvSpPr>
        <p:spPr/>
        <p:txBody>
          <a:bodyPr/>
          <a:lstStyle/>
          <a:p>
            <a:r>
              <a:rPr kumimoji="1" lang="ja-JP" altLang="en-US" dirty="0"/>
              <a:t>取り下げ処理</a:t>
            </a:r>
          </a:p>
        </p:txBody>
      </p:sp>
      <p:sp>
        <p:nvSpPr>
          <p:cNvPr id="3" name="コンテンツ プレースホルダー 2">
            <a:extLst>
              <a:ext uri="{FF2B5EF4-FFF2-40B4-BE49-F238E27FC236}">
                <a16:creationId xmlns:a16="http://schemas.microsoft.com/office/drawing/2014/main" id="{63F90ABB-7FBC-7BC3-7F27-96CC0E41B464}"/>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2975413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3B0A94-FC39-DF97-69A5-BAC9D6B345D4}"/>
              </a:ext>
            </a:extLst>
          </p:cNvPr>
          <p:cNvSpPr>
            <a:spLocks noGrp="1"/>
          </p:cNvSpPr>
          <p:nvPr>
            <p:ph type="title"/>
          </p:nvPr>
        </p:nvSpPr>
        <p:spPr/>
        <p:txBody>
          <a:bodyPr/>
          <a:lstStyle/>
          <a:p>
            <a:r>
              <a:rPr kumimoji="1" lang="ja-JP" altLang="en-US" dirty="0"/>
              <a:t>メール対応から電話対応へ切り替える</a:t>
            </a:r>
          </a:p>
        </p:txBody>
      </p:sp>
      <p:sp>
        <p:nvSpPr>
          <p:cNvPr id="3" name="コンテンツ プレースホルダー 2">
            <a:extLst>
              <a:ext uri="{FF2B5EF4-FFF2-40B4-BE49-F238E27FC236}">
                <a16:creationId xmlns:a16="http://schemas.microsoft.com/office/drawing/2014/main" id="{816379A2-7773-7146-839F-B95E220BB506}"/>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1658377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665F36-22B9-72D6-EF8E-E5684086E147}"/>
              </a:ext>
            </a:extLst>
          </p:cNvPr>
          <p:cNvSpPr>
            <a:spLocks noGrp="1"/>
          </p:cNvSpPr>
          <p:nvPr>
            <p:ph type="title"/>
          </p:nvPr>
        </p:nvSpPr>
        <p:spPr/>
        <p:txBody>
          <a:bodyPr/>
          <a:lstStyle/>
          <a:p>
            <a:r>
              <a:rPr kumimoji="1" lang="ja-JP" altLang="en-US" dirty="0"/>
              <a:t>仮予約という概念</a:t>
            </a:r>
          </a:p>
        </p:txBody>
      </p:sp>
      <p:sp>
        <p:nvSpPr>
          <p:cNvPr id="3" name="コンテンツ プレースホルダー 2">
            <a:extLst>
              <a:ext uri="{FF2B5EF4-FFF2-40B4-BE49-F238E27FC236}">
                <a16:creationId xmlns:a16="http://schemas.microsoft.com/office/drawing/2014/main" id="{A1525CDE-83E0-5985-8F57-E878CEF67F1E}"/>
              </a:ext>
            </a:extLst>
          </p:cNvPr>
          <p:cNvSpPr>
            <a:spLocks noGrp="1"/>
          </p:cNvSpPr>
          <p:nvPr>
            <p:ph idx="1"/>
          </p:nvPr>
        </p:nvSpPr>
        <p:spPr/>
        <p:txBody>
          <a:bodyPr/>
          <a:lstStyle/>
          <a:p>
            <a:pPr marL="0" indent="0">
              <a:buNone/>
            </a:pPr>
            <a:r>
              <a:rPr lang="ja-JP" altLang="en-US" dirty="0"/>
              <a:t>本システムでは以下のように従来の①に加えて②、③の方法が拡張されます。</a:t>
            </a:r>
            <a:endParaRPr lang="en-US" altLang="ja-JP" dirty="0"/>
          </a:p>
          <a:p>
            <a:pPr marL="0" indent="0">
              <a:buNone/>
            </a:pPr>
            <a:r>
              <a:rPr lang="ja-JP" altLang="en-US" dirty="0"/>
              <a:t>①患者から電話予約</a:t>
            </a:r>
            <a:endParaRPr lang="en-US" altLang="ja-JP" dirty="0"/>
          </a:p>
          <a:p>
            <a:pPr marL="0" indent="0">
              <a:buNone/>
            </a:pPr>
            <a:r>
              <a:rPr lang="ja-JP" altLang="en-US" dirty="0"/>
              <a:t>②</a:t>
            </a:r>
            <a:r>
              <a:rPr lang="en-US" altLang="ja-JP" dirty="0"/>
              <a:t>Web</a:t>
            </a:r>
            <a:r>
              <a:rPr lang="ja-JP" altLang="en-US" dirty="0"/>
              <a:t>フォーム　＆メール対応</a:t>
            </a:r>
            <a:endParaRPr lang="en-US" altLang="ja-JP" dirty="0"/>
          </a:p>
          <a:p>
            <a:pPr marL="0" indent="0">
              <a:buNone/>
            </a:pPr>
            <a:r>
              <a:rPr lang="ja-JP" altLang="en-US" dirty="0"/>
              <a:t>③</a:t>
            </a:r>
            <a:r>
              <a:rPr lang="en-US" altLang="ja-JP" dirty="0"/>
              <a:t>Web</a:t>
            </a:r>
            <a:r>
              <a:rPr lang="ja-JP" altLang="en-US" dirty="0"/>
              <a:t>フォーム　＆電話対応</a:t>
            </a:r>
            <a:endParaRPr lang="en-US" altLang="ja-JP" dirty="0"/>
          </a:p>
          <a:p>
            <a:pPr marL="0" indent="0">
              <a:buNone/>
            </a:pPr>
            <a:endParaRPr lang="en-US" altLang="ja-JP" dirty="0"/>
          </a:p>
          <a:p>
            <a:pPr marL="0" indent="0">
              <a:buNone/>
            </a:pPr>
            <a:r>
              <a:rPr lang="ja-JP" altLang="en-US" dirty="0"/>
              <a:t>②、③は以下を考慮すると予約確定するまでには時差が生じるため</a:t>
            </a:r>
            <a:endParaRPr lang="en-US" altLang="ja-JP" dirty="0"/>
          </a:p>
          <a:p>
            <a:pPr marL="0" indent="0">
              <a:buNone/>
            </a:pPr>
            <a:r>
              <a:rPr lang="ja-JP" altLang="en-US" dirty="0"/>
              <a:t>仮予約日時の概念を導入する必要があります。</a:t>
            </a:r>
            <a:endParaRPr lang="en-US" altLang="ja-JP" dirty="0"/>
          </a:p>
          <a:p>
            <a:pPr marL="0" indent="0">
              <a:buNone/>
            </a:pPr>
            <a:endParaRPr lang="en-US" altLang="ja-JP" dirty="0"/>
          </a:p>
          <a:p>
            <a:pPr marL="0" indent="0">
              <a:buNone/>
            </a:pPr>
            <a:r>
              <a:rPr lang="ja-JP" altLang="en-US" dirty="0"/>
              <a:t>・予約日時を記した案内メールを患者が読んでいない</a:t>
            </a:r>
            <a:endParaRPr lang="en-US" altLang="ja-JP" dirty="0"/>
          </a:p>
          <a:p>
            <a:pPr marL="457200" lvl="1" indent="0">
              <a:buNone/>
            </a:pPr>
            <a:r>
              <a:rPr lang="ja-JP" altLang="en-US" sz="1000" dirty="0"/>
              <a:t>　</a:t>
            </a:r>
            <a:r>
              <a:rPr lang="en-US" altLang="ja-JP" sz="1000" dirty="0"/>
              <a:t>A</a:t>
            </a:r>
            <a:r>
              <a:rPr lang="ja-JP" altLang="en-US" sz="1000" dirty="0"/>
              <a:t>忙しいのですぐには見れてない。時間が要因</a:t>
            </a:r>
            <a:endParaRPr lang="en-US" altLang="ja-JP" sz="1000" dirty="0"/>
          </a:p>
          <a:p>
            <a:pPr marL="457200" lvl="1" indent="0">
              <a:buNone/>
            </a:pPr>
            <a:r>
              <a:rPr lang="ja-JP" altLang="en-US" sz="1000" dirty="0"/>
              <a:t>　</a:t>
            </a:r>
            <a:r>
              <a:rPr lang="en-US" altLang="ja-JP" sz="1000" dirty="0"/>
              <a:t>B</a:t>
            </a:r>
            <a:r>
              <a:rPr lang="ja-JP" altLang="en-US" sz="1000" dirty="0"/>
              <a:t>メールが不慣れで見れていない。スキルが要因</a:t>
            </a:r>
            <a:endParaRPr lang="en-US" altLang="ja-JP" sz="1000" dirty="0"/>
          </a:p>
          <a:p>
            <a:pPr marL="457200" lvl="1" indent="0">
              <a:buNone/>
            </a:pPr>
            <a:r>
              <a:rPr lang="ja-JP" altLang="en-US" sz="1000" dirty="0"/>
              <a:t>　</a:t>
            </a:r>
            <a:r>
              <a:rPr lang="en-US" altLang="ja-JP" sz="1000" dirty="0"/>
              <a:t>C</a:t>
            </a:r>
            <a:r>
              <a:rPr lang="ja-JP" altLang="en-US" sz="1000" dirty="0"/>
              <a:t>迷惑メールフォルダーに入って見れていない。環境が要因</a:t>
            </a:r>
            <a:endParaRPr lang="en-US" altLang="ja-JP" sz="1000" dirty="0"/>
          </a:p>
          <a:p>
            <a:pPr marL="457200" lvl="1" indent="0">
              <a:buNone/>
            </a:pPr>
            <a:r>
              <a:rPr lang="en-US" altLang="ja-JP" sz="1000" dirty="0"/>
              <a:t>A</a:t>
            </a:r>
            <a:r>
              <a:rPr lang="ja-JP" altLang="en-US" sz="1000" dirty="0"/>
              <a:t>は待ち時間（猶予）が必要ですが、</a:t>
            </a:r>
            <a:r>
              <a:rPr lang="en-US" altLang="ja-JP" sz="1000" dirty="0"/>
              <a:t>B,C</a:t>
            </a:r>
            <a:r>
              <a:rPr lang="ja-JP" altLang="en-US" sz="1000" dirty="0"/>
              <a:t>はいくら待っても期待できません。</a:t>
            </a:r>
            <a:endParaRPr lang="en-US" altLang="ja-JP" sz="1000" dirty="0"/>
          </a:p>
          <a:p>
            <a:pPr marL="0" indent="0">
              <a:buNone/>
            </a:pPr>
            <a:r>
              <a:rPr lang="ja-JP" altLang="en-US" dirty="0"/>
              <a:t>・今なら空き枠があったのに電話してもなかなか繫がらない</a:t>
            </a:r>
            <a:endParaRPr lang="en-US" altLang="ja-JP" dirty="0"/>
          </a:p>
          <a:p>
            <a:pPr marL="0" indent="0">
              <a:buNone/>
            </a:pPr>
            <a:endParaRPr lang="en-US" altLang="ja-JP" dirty="0"/>
          </a:p>
          <a:p>
            <a:pPr marL="0" indent="0">
              <a:buNone/>
            </a:pPr>
            <a:r>
              <a:rPr lang="ja-JP" altLang="en-US" dirty="0"/>
              <a:t>単に案内メールを送り付けただけで予約確定とみなすのはトラブルに至るリスクが非常に高いため、予約日時情報の既読検出処理を導入しています。</a:t>
            </a:r>
            <a:endParaRPr lang="en-US" altLang="ja-JP" dirty="0"/>
          </a:p>
          <a:p>
            <a:pPr marL="0" indent="0">
              <a:buNone/>
            </a:pPr>
            <a:r>
              <a:rPr lang="ja-JP" altLang="en-US" dirty="0"/>
              <a:t>患者自身が予約日時方法にアクセスする明示的な操作を行うかを検出します。</a:t>
            </a:r>
            <a:endParaRPr lang="en-US" altLang="ja-JP" dirty="0"/>
          </a:p>
        </p:txBody>
      </p:sp>
    </p:spTree>
    <p:extLst>
      <p:ext uri="{BB962C8B-B14F-4D97-AF65-F5344CB8AC3E}">
        <p14:creationId xmlns:p14="http://schemas.microsoft.com/office/powerpoint/2010/main" val="3993378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718237-8642-2A70-A048-6A4FC7B0622D}"/>
              </a:ext>
            </a:extLst>
          </p:cNvPr>
          <p:cNvSpPr>
            <a:spLocks noGrp="1"/>
          </p:cNvSpPr>
          <p:nvPr>
            <p:ph type="title"/>
          </p:nvPr>
        </p:nvSpPr>
        <p:spPr/>
        <p:txBody>
          <a:bodyPr/>
          <a:lstStyle/>
          <a:p>
            <a:r>
              <a:rPr kumimoji="1" lang="ja-JP" altLang="en-US" dirty="0"/>
              <a:t>患者がちゃんと予定通り診療を受けたかも管理</a:t>
            </a:r>
          </a:p>
        </p:txBody>
      </p:sp>
      <p:sp>
        <p:nvSpPr>
          <p:cNvPr id="3" name="コンテンツ プレースホルダー 2">
            <a:extLst>
              <a:ext uri="{FF2B5EF4-FFF2-40B4-BE49-F238E27FC236}">
                <a16:creationId xmlns:a16="http://schemas.microsoft.com/office/drawing/2014/main" id="{A1AACB16-0B22-178F-D606-17490FDE16C7}"/>
              </a:ext>
            </a:extLst>
          </p:cNvPr>
          <p:cNvSpPr>
            <a:spLocks noGrp="1"/>
          </p:cNvSpPr>
          <p:nvPr>
            <p:ph idx="1"/>
          </p:nvPr>
        </p:nvSpPr>
        <p:spPr/>
        <p:txBody>
          <a:bodyPr/>
          <a:lstStyle/>
          <a:p>
            <a:r>
              <a:rPr kumimoji="1" lang="ja-JP" altLang="en-US" dirty="0"/>
              <a:t>患者が予約日時通りに診察を受けたかどうかを電子カルテ側の情報などをもとに確認してチケットを終了させる必要があります。</a:t>
            </a:r>
            <a:endParaRPr kumimoji="1" lang="en-US" altLang="ja-JP" dirty="0"/>
          </a:p>
          <a:p>
            <a:r>
              <a:rPr lang="ja-JP" altLang="en-US" dirty="0"/>
              <a:t>実際</a:t>
            </a:r>
            <a:r>
              <a:rPr kumimoji="1" lang="ja-JP" altLang="en-US" dirty="0"/>
              <a:t>に対象患者が予定通り問題なく受診されたのかという情報も次回の</a:t>
            </a:r>
            <a:r>
              <a:rPr lang="ja-JP" altLang="en-US" dirty="0"/>
              <a:t>対応方法として有用な</a:t>
            </a:r>
            <a:r>
              <a:rPr kumimoji="1" lang="ja-JP" altLang="en-US" dirty="0"/>
              <a:t>ので</a:t>
            </a:r>
            <a:r>
              <a:rPr kumimoji="1" lang="en-US" altLang="ja-JP" dirty="0"/>
              <a:t>CRM</a:t>
            </a:r>
            <a:r>
              <a:rPr kumimoji="1" lang="ja-JP" altLang="en-US" dirty="0"/>
              <a:t>に残すようにします。</a:t>
            </a:r>
            <a:endParaRPr kumimoji="1" lang="en-US" altLang="ja-JP" dirty="0"/>
          </a:p>
          <a:p>
            <a:r>
              <a:rPr kumimoji="1" lang="ja-JP" altLang="en-US" dirty="0"/>
              <a:t>予約日時通りに診療が</a:t>
            </a:r>
            <a:r>
              <a:rPr lang="ja-JP" altLang="en-US" dirty="0"/>
              <a:t>進行</a:t>
            </a:r>
            <a:r>
              <a:rPr kumimoji="1" lang="ja-JP" altLang="en-US" dirty="0"/>
              <a:t>しないことがあるため、この終了判定は診療日の翌日に問われるようになっています（翌日になるとチケットは自動的に評価待ちとなります）</a:t>
            </a:r>
          </a:p>
        </p:txBody>
      </p:sp>
    </p:spTree>
    <p:extLst>
      <p:ext uri="{BB962C8B-B14F-4D97-AF65-F5344CB8AC3E}">
        <p14:creationId xmlns:p14="http://schemas.microsoft.com/office/powerpoint/2010/main" val="1003078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a:extLst>
              <a:ext uri="{FF2B5EF4-FFF2-40B4-BE49-F238E27FC236}">
                <a16:creationId xmlns:a16="http://schemas.microsoft.com/office/drawing/2014/main" id="{EB283B3F-DEC1-0833-16D1-A2801B8408BF}"/>
              </a:ext>
            </a:extLst>
          </p:cNvPr>
          <p:cNvPicPr>
            <a:picLocks noGrp="1" noChangeAspect="1"/>
          </p:cNvPicPr>
          <p:nvPr>
            <p:ph idx="1"/>
          </p:nvPr>
        </p:nvPicPr>
        <p:blipFill>
          <a:blip r:embed="rId2"/>
          <a:srcRect l="39852" t="43285" r="39290" b="33296"/>
          <a:stretch>
            <a:fillRect/>
          </a:stretch>
        </p:blipFill>
        <p:spPr>
          <a:xfrm>
            <a:off x="3475347" y="2415300"/>
            <a:ext cx="2929907" cy="2468724"/>
          </a:xfrm>
          <a:prstGeom prst="roundRect">
            <a:avLst>
              <a:gd name="adj" fmla="val 6685"/>
            </a:avLst>
          </a:prstGeom>
          <a:ln>
            <a:solidFill>
              <a:schemeClr val="bg1">
                <a:lumMod val="85000"/>
              </a:schemeClr>
            </a:solidFill>
          </a:ln>
        </p:spPr>
      </p:pic>
    </p:spTree>
    <p:extLst>
      <p:ext uri="{BB962C8B-B14F-4D97-AF65-F5344CB8AC3E}">
        <p14:creationId xmlns:p14="http://schemas.microsoft.com/office/powerpoint/2010/main" val="383656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F825BB-E46D-BCE8-1ECD-FEF1F0B2D66B}"/>
              </a:ext>
            </a:extLst>
          </p:cNvPr>
          <p:cNvSpPr>
            <a:spLocks noGrp="1"/>
          </p:cNvSpPr>
          <p:nvPr>
            <p:ph type="title"/>
          </p:nvPr>
        </p:nvSpPr>
        <p:spPr/>
        <p:txBody>
          <a:bodyPr/>
          <a:lstStyle/>
          <a:p>
            <a:r>
              <a:rPr lang="ja-JP" altLang="ja-JP" dirty="0"/>
              <a:t>予約待受期間・休診日設定</a:t>
            </a:r>
            <a:endParaRPr kumimoji="1" lang="ja-JP" altLang="en-US" dirty="0"/>
          </a:p>
        </p:txBody>
      </p:sp>
      <p:sp>
        <p:nvSpPr>
          <p:cNvPr id="3" name="コンテンツ プレースホルダー 2">
            <a:extLst>
              <a:ext uri="{FF2B5EF4-FFF2-40B4-BE49-F238E27FC236}">
                <a16:creationId xmlns:a16="http://schemas.microsoft.com/office/drawing/2014/main" id="{45280383-37D2-3C0A-AFAF-B07525B460F5}"/>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162965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EAA0CF-E036-7F1A-278E-7A567E18F748}"/>
              </a:ext>
            </a:extLst>
          </p:cNvPr>
          <p:cNvSpPr>
            <a:spLocks noGrp="1"/>
          </p:cNvSpPr>
          <p:nvPr>
            <p:ph type="title"/>
          </p:nvPr>
        </p:nvSpPr>
        <p:spPr/>
        <p:txBody>
          <a:bodyPr/>
          <a:lstStyle/>
          <a:p>
            <a:r>
              <a:rPr lang="ja-JP" altLang="ja-JP" dirty="0"/>
              <a:t>フォーム挿入ラベル</a:t>
            </a:r>
            <a:r>
              <a:rPr lang="ja-JP" altLang="en-US" dirty="0"/>
              <a:t>管理</a:t>
            </a:r>
            <a:endParaRPr kumimoji="1" lang="ja-JP" altLang="en-US" dirty="0"/>
          </a:p>
        </p:txBody>
      </p:sp>
      <p:sp>
        <p:nvSpPr>
          <p:cNvPr id="3" name="コンテンツ プレースホルダー 2">
            <a:extLst>
              <a:ext uri="{FF2B5EF4-FFF2-40B4-BE49-F238E27FC236}">
                <a16:creationId xmlns:a16="http://schemas.microsoft.com/office/drawing/2014/main" id="{9F60D20A-648A-B0D5-0DEC-8B2CF78295FF}"/>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772472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a:extLst>
              <a:ext uri="{FF2B5EF4-FFF2-40B4-BE49-F238E27FC236}">
                <a16:creationId xmlns:a16="http://schemas.microsoft.com/office/drawing/2014/main" id="{CBF75888-F983-BF7C-0FE7-5329A1F3423C}"/>
              </a:ext>
            </a:extLst>
          </p:cNvPr>
          <p:cNvPicPr>
            <a:picLocks noGrp="1" noChangeAspect="1"/>
          </p:cNvPicPr>
          <p:nvPr>
            <p:ph idx="1"/>
          </p:nvPr>
        </p:nvPicPr>
        <p:blipFill>
          <a:blip r:embed="rId2"/>
          <a:srcRect l="16604" t="69169" r="62538" b="7412"/>
          <a:stretch>
            <a:fillRect/>
          </a:stretch>
        </p:blipFill>
        <p:spPr>
          <a:xfrm>
            <a:off x="3475347" y="2415300"/>
            <a:ext cx="2929907" cy="2468724"/>
          </a:xfrm>
          <a:prstGeom prst="roundRect">
            <a:avLst>
              <a:gd name="adj" fmla="val 6685"/>
            </a:avLst>
          </a:prstGeom>
          <a:ln>
            <a:solidFill>
              <a:schemeClr val="bg1">
                <a:lumMod val="85000"/>
              </a:schemeClr>
            </a:solidFill>
          </a:ln>
        </p:spPr>
      </p:pic>
    </p:spTree>
    <p:extLst>
      <p:ext uri="{BB962C8B-B14F-4D97-AF65-F5344CB8AC3E}">
        <p14:creationId xmlns:p14="http://schemas.microsoft.com/office/powerpoint/2010/main" val="178787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FCE7A3-9C68-8F06-36A0-EE95C6FAA05B}"/>
              </a:ext>
            </a:extLst>
          </p:cNvPr>
          <p:cNvSpPr>
            <a:spLocks noGrp="1"/>
          </p:cNvSpPr>
          <p:nvPr>
            <p:ph type="title"/>
          </p:nvPr>
        </p:nvSpPr>
        <p:spPr/>
        <p:txBody>
          <a:bodyPr/>
          <a:lstStyle/>
          <a:p>
            <a:r>
              <a:rPr kumimoji="1" lang="ja-JP" altLang="en-US" dirty="0"/>
              <a:t>お任せ予約</a:t>
            </a:r>
          </a:p>
        </p:txBody>
      </p:sp>
      <p:sp>
        <p:nvSpPr>
          <p:cNvPr id="3" name="コンテンツ プレースホルダー 2">
            <a:extLst>
              <a:ext uri="{FF2B5EF4-FFF2-40B4-BE49-F238E27FC236}">
                <a16:creationId xmlns:a16="http://schemas.microsoft.com/office/drawing/2014/main" id="{6CCB839E-EC11-3555-B615-60AE8BA3FD18}"/>
              </a:ext>
            </a:extLst>
          </p:cNvPr>
          <p:cNvSpPr>
            <a:spLocks noGrp="1"/>
          </p:cNvSpPr>
          <p:nvPr>
            <p:ph idx="1"/>
          </p:nvPr>
        </p:nvSpPr>
        <p:spPr/>
        <p:txBody>
          <a:bodyPr/>
          <a:lstStyle/>
          <a:p>
            <a:r>
              <a:rPr kumimoji="1" lang="ja-JP" altLang="en-US" dirty="0"/>
              <a:t>ある程度お任せでの依頼についてはマッチング確度が高くなります。</a:t>
            </a:r>
            <a:endParaRPr kumimoji="1" lang="en-US" altLang="ja-JP" dirty="0"/>
          </a:p>
          <a:p>
            <a:r>
              <a:rPr kumimoji="1" lang="ja-JP" altLang="en-US" dirty="0"/>
              <a:t>医師毎の診療時間割に応じた希望の選択肢を提示できますが、個別の予定をメンテしなければなりません。</a:t>
            </a:r>
            <a:endParaRPr kumimoji="1" lang="en-US" altLang="ja-JP" dirty="0"/>
          </a:p>
          <a:p>
            <a:endParaRPr kumimoji="1" lang="en-US" altLang="ja-JP" dirty="0"/>
          </a:p>
        </p:txBody>
      </p:sp>
    </p:spTree>
    <p:extLst>
      <p:ext uri="{BB962C8B-B14F-4D97-AF65-F5344CB8AC3E}">
        <p14:creationId xmlns:p14="http://schemas.microsoft.com/office/powerpoint/2010/main" val="3824868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F7B93B-7EFA-7268-E5FD-E5C8181E1618}"/>
              </a:ext>
            </a:extLst>
          </p:cNvPr>
          <p:cNvSpPr>
            <a:spLocks noGrp="1"/>
          </p:cNvSpPr>
          <p:nvPr>
            <p:ph type="title"/>
          </p:nvPr>
        </p:nvSpPr>
        <p:spPr/>
        <p:txBody>
          <a:bodyPr/>
          <a:lstStyle/>
          <a:p>
            <a:r>
              <a:rPr kumimoji="1" lang="ja-JP" altLang="en-US" dirty="0"/>
              <a:t>医師別診療時間割</a:t>
            </a:r>
          </a:p>
        </p:txBody>
      </p:sp>
      <p:sp>
        <p:nvSpPr>
          <p:cNvPr id="3" name="コンテンツ プレースホルダー 2">
            <a:extLst>
              <a:ext uri="{FF2B5EF4-FFF2-40B4-BE49-F238E27FC236}">
                <a16:creationId xmlns:a16="http://schemas.microsoft.com/office/drawing/2014/main" id="{111862BB-8BA8-F52D-37B5-963721539BEF}"/>
              </a:ext>
            </a:extLst>
          </p:cNvPr>
          <p:cNvSpPr>
            <a:spLocks noGrp="1"/>
          </p:cNvSpPr>
          <p:nvPr>
            <p:ph idx="1"/>
          </p:nvPr>
        </p:nvSpPr>
        <p:spPr/>
        <p:txBody>
          <a:bodyPr/>
          <a:lstStyle/>
          <a:p>
            <a:pPr marL="0" indent="0">
              <a:buNone/>
            </a:pPr>
            <a:endParaRPr kumimoji="1" lang="ja-JP" altLang="en-US" dirty="0"/>
          </a:p>
        </p:txBody>
      </p:sp>
    </p:spTree>
    <p:extLst>
      <p:ext uri="{BB962C8B-B14F-4D97-AF65-F5344CB8AC3E}">
        <p14:creationId xmlns:p14="http://schemas.microsoft.com/office/powerpoint/2010/main" val="1070986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32FF5A-0AAC-ACD3-F2F5-AD496937D5FF}"/>
              </a:ext>
            </a:extLst>
          </p:cNvPr>
          <p:cNvSpPr>
            <a:spLocks noGrp="1"/>
          </p:cNvSpPr>
          <p:nvPr>
            <p:ph type="title"/>
          </p:nvPr>
        </p:nvSpPr>
        <p:spPr/>
        <p:txBody>
          <a:bodyPr/>
          <a:lstStyle/>
          <a:p>
            <a:r>
              <a:rPr kumimoji="1" lang="ja-JP" altLang="en-US" dirty="0"/>
              <a:t>掲載制御</a:t>
            </a:r>
          </a:p>
        </p:txBody>
      </p:sp>
      <p:sp>
        <p:nvSpPr>
          <p:cNvPr id="3" name="コンテンツ プレースホルダー 2">
            <a:extLst>
              <a:ext uri="{FF2B5EF4-FFF2-40B4-BE49-F238E27FC236}">
                <a16:creationId xmlns:a16="http://schemas.microsoft.com/office/drawing/2014/main" id="{97FBE257-C16D-7E65-6F24-A558C73050F3}"/>
              </a:ext>
            </a:extLst>
          </p:cNvPr>
          <p:cNvSpPr>
            <a:spLocks noGrp="1"/>
          </p:cNvSpPr>
          <p:nvPr>
            <p:ph idx="1"/>
          </p:nvPr>
        </p:nvSpPr>
        <p:spPr/>
        <p:txBody>
          <a:bodyPr/>
          <a:lstStyle/>
          <a:p>
            <a:r>
              <a:rPr kumimoji="1" lang="ja-JP" altLang="en-US" dirty="0"/>
              <a:t>ずっと予約できない　人気医師</a:t>
            </a:r>
            <a:endParaRPr kumimoji="1" lang="en-US" altLang="ja-JP" dirty="0"/>
          </a:p>
          <a:p>
            <a:r>
              <a:rPr lang="ja-JP" altLang="en-US" dirty="0"/>
              <a:t>非表示</a:t>
            </a:r>
            <a:endParaRPr lang="en-US" altLang="ja-JP" dirty="0"/>
          </a:p>
          <a:p>
            <a:r>
              <a:rPr kumimoji="1" lang="ja-JP" altLang="en-US" dirty="0"/>
              <a:t>電話のみ</a:t>
            </a:r>
            <a:endParaRPr kumimoji="1" lang="en-US" altLang="ja-JP" dirty="0"/>
          </a:p>
          <a:p>
            <a:pPr marL="0" indent="0">
              <a:buNone/>
            </a:pPr>
            <a:endParaRPr kumimoji="1" lang="ja-JP" altLang="en-US" dirty="0"/>
          </a:p>
        </p:txBody>
      </p:sp>
    </p:spTree>
    <p:extLst>
      <p:ext uri="{BB962C8B-B14F-4D97-AF65-F5344CB8AC3E}">
        <p14:creationId xmlns:p14="http://schemas.microsoft.com/office/powerpoint/2010/main" val="3166195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047624-47E3-6B17-64E5-A815FDD64136}"/>
              </a:ext>
            </a:extLst>
          </p:cNvPr>
          <p:cNvSpPr>
            <a:spLocks noGrp="1"/>
          </p:cNvSpPr>
          <p:nvPr>
            <p:ph type="title"/>
          </p:nvPr>
        </p:nvSpPr>
        <p:spPr/>
        <p:txBody>
          <a:bodyPr/>
          <a:lstStyle/>
          <a:p>
            <a:r>
              <a:rPr kumimoji="1" lang="ja-JP" altLang="en-US" dirty="0"/>
              <a:t>時間割連動しない方法</a:t>
            </a:r>
          </a:p>
        </p:txBody>
      </p:sp>
      <p:sp>
        <p:nvSpPr>
          <p:cNvPr id="3" name="コンテンツ プレースホルダー 2">
            <a:extLst>
              <a:ext uri="{FF2B5EF4-FFF2-40B4-BE49-F238E27FC236}">
                <a16:creationId xmlns:a16="http://schemas.microsoft.com/office/drawing/2014/main" id="{74FC67F1-2B61-F2DB-D663-B79ACF081472}"/>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2693672561"/>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475</TotalTime>
  <Words>2176</Words>
  <Application>Microsoft Office PowerPoint</Application>
  <PresentationFormat>A4 210 x 297 mm</PresentationFormat>
  <Paragraphs>131</Paragraphs>
  <Slides>27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27</vt:i4>
      </vt:variant>
    </vt:vector>
  </HeadingPairs>
  <TitlesOfParts>
    <vt:vector size="31" baseType="lpstr">
      <vt:lpstr>メイリオ</vt:lpstr>
      <vt:lpstr>Arial</vt:lpstr>
      <vt:lpstr>Wingdings</vt:lpstr>
      <vt:lpstr>Office テーマ</vt:lpstr>
      <vt:lpstr>第1章：はじめに</vt:lpstr>
      <vt:lpstr>目次</vt:lpstr>
      <vt:lpstr>できること</vt:lpstr>
      <vt:lpstr>できないこと（ご注意）</vt:lpstr>
      <vt:lpstr>システムへのログインとDashboard</vt:lpstr>
      <vt:lpstr>Dashboard画面</vt:lpstr>
      <vt:lpstr>機能ブロックの関係</vt:lpstr>
      <vt:lpstr>本システムと電子カルテにおける予約システムとの関係</vt:lpstr>
      <vt:lpstr>PowerPoint プレゼンテーション</vt:lpstr>
      <vt:lpstr>予約チケット管理</vt:lpstr>
      <vt:lpstr>管理状況凡例</vt:lpstr>
      <vt:lpstr>CRM(Customer Relation Management) </vt:lpstr>
      <vt:lpstr>メールを使った予約日時の確定合意処理について</vt:lpstr>
      <vt:lpstr>スタッフ設定</vt:lpstr>
      <vt:lpstr>電話対応かメール対応かの判断</vt:lpstr>
      <vt:lpstr>取り下げ処理</vt:lpstr>
      <vt:lpstr>メール対応から電話対応へ切り替える</vt:lpstr>
      <vt:lpstr>仮予約という概念</vt:lpstr>
      <vt:lpstr>患者がちゃんと予定通り診療を受けたかも管理</vt:lpstr>
      <vt:lpstr>PowerPoint プレゼンテーション</vt:lpstr>
      <vt:lpstr>予約待受期間・休診日設定</vt:lpstr>
      <vt:lpstr>フォーム挿入ラベル管理</vt:lpstr>
      <vt:lpstr>PowerPoint プレゼンテーション</vt:lpstr>
      <vt:lpstr>お任せ予約</vt:lpstr>
      <vt:lpstr>医師別診療時間割</vt:lpstr>
      <vt:lpstr>掲載制御</vt:lpstr>
      <vt:lpstr>時間割連動しない方法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朗史 三嶋</dc:creator>
  <cp:lastModifiedBy>朗史 三嶋</cp:lastModifiedBy>
  <cp:revision>25</cp:revision>
  <dcterms:created xsi:type="dcterms:W3CDTF">2026-09-07T00:54:30Z</dcterms:created>
  <dcterms:modified xsi:type="dcterms:W3CDTF">2026-09-08T00:53:36Z</dcterms:modified>
</cp:coreProperties>
</file>